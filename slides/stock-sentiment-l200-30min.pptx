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a:solidFill>
                  <a:srgbClr val="243A5E"/>
                </a:solidFill>
                <a:latin typeface="Segoe UI Semibold"/>
              </a:rPr>
              <a:t>Typical Sentiment Distribution</a:t>
            </a:r>
          </a:p>
        </c:rich>
      </c:tx>
      <c:layout/>
      <c:overlay val="0"/>
    </c:title>
    <c:autoTitleDeleted val="0"/>
    <c:plotArea>
      <c:layout/>
      <c:doughnutChart>
        <c:varyColors val="1"/>
        <c:ser>
          <c:idx val="0"/>
          <c:order val="0"/>
          <c:tx>
            <c:strRef>
              <c:f>Sheet1!$B$1</c:f>
              <c:strCache>
                <c:ptCount val="1"/>
                <c:pt idx="0">
                  <c:v>Data</c:v>
                </c:pt>
              </c:strCache>
            </c:strRef>
          </c:tx>
          <c:dPt>
            <c:idx val="0"/>
            <c:spPr>
              <a:solidFill>
                <a:srgbClr val="107C10"/>
              </a:solidFill>
            </c:spPr>
          </c:dPt>
          <c:dPt>
            <c:idx val="1"/>
            <c:spPr>
              <a:solidFill>
                <a:srgbClr val="D13031"/>
              </a:solidFill>
            </c:spPr>
          </c:dPt>
          <c:dPt>
            <c:idx val="2"/>
            <c:spPr>
              <a:solidFill>
                <a:srgbClr val="006CBE"/>
              </a:solidFill>
            </c:spPr>
          </c:dPt>
          <c:dPt>
            <c:idx val="3"/>
            <c:spPr>
              <a:solidFill>
                <a:srgbClr val="FDCB6E"/>
              </a:solidFill>
            </c:spPr>
          </c:dPt>
          <c:cat>
            <c:strRef>
              <c:f>Sheet1!$A$2:$A$5</c:f>
              <c:strCache>
                <c:ptCount val="4"/>
                <c:pt idx="0">
                  <c:v>Positive</c:v>
                </c:pt>
                <c:pt idx="1">
                  <c:v>Negative</c:v>
                </c:pt>
                <c:pt idx="2">
                  <c:v>Neutral</c:v>
                </c:pt>
                <c:pt idx="3">
                  <c:v>Mixed</c:v>
                </c:pt>
              </c:strCache>
            </c:strRef>
          </c:cat>
          <c:val>
            <c:numRef>
              <c:f>Sheet1!$B$2:$B$5</c:f>
              <c:numCache>
                <c:formatCode>General</c:formatCode>
                <c:ptCount val="4"/>
                <c:pt idx="0">
                  <c:v>30</c:v>
                </c:pt>
                <c:pt idx="1">
                  <c:v>8</c:v>
                </c:pt>
                <c:pt idx="2">
                  <c:v>10</c:v>
                </c:pt>
                <c:pt idx="3">
                  <c:v>2</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In this session we explore how to build a stock sentiment analysis pipeline that ingests live posts from X.com and scores them using Azure AI Language. We will walk through the end-to-end architecture, examine the Azure infrastructure defined in Bicep, and see how the application translates raw social chatter into actionable sentiment signals for traders and analysts. By the end you will have a clear blueprint you can adapt to your own market-intelligence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we will cover today. First, we frame the business challenge of extracting real-time sentiment from noisy social media streams. Then we walk through the solution architecture and the Azure resources that support it. After that we dive into the application code, and we close with a live experience plus concrete next steps you can take back to your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frames the core problem we are solving. Retail and institutional investors alike struggle to gauge market mood from social media. We will examine why manual approaches fail and how Azure AI services close the gap. By the end of this section you will understand the full data pipeline from X.com posts to an actionable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card highlights a dimension of the sentiment-analysis challenge. **Volume** is the first barrier — millions of stock-related posts appear on X.com every day, far beyond any analyst's reading capacity. **Speed** matters because sentiment can flip in minutes around earnings calls or breaking news, while traditional surveys lag by weeks. **Nuance** is where AI shines: Azure AI Language detects mixed and subtle signals that even experienced readers overlook at scale. Finally, **Actionable** output turns raw scores into a single Bullish, Bearish, or Neutral verdict investors can act on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end-to-end data flow in four discrete stages. First, the **X.com API v2** recent-search endpoint fetches up to 50 tweets matching the requested stock ticker. Those tweets are batched into groups of 10 and sent to **Azure AI Language** for sentiment analysis, cutting network overhead by 10×. The **Aggregation Engine** in our Express back-end tallies positive, negative, and neutral counts and computes a weighted verdict. Finally, **Chart.js** renders a responsive doughnut chart in the browser so the user sees results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layered view shows the four tiers of the application from the user's browser down to secrets management. The **Browser** tier uses Chart.js to render sentiment results with zero server-side rendering overhead. **Node.js Express** running on Azure App Service exposes a lightweight REST API that orchestrates calls to the AI service. **Azure AI Language (Text Analytics)** performs the heavy lifting — each batch call returns per-document positive, negative, and neutral confidence scores. At the base, **Azure Key Vault** stores the X.com bearer token and AI endpoint key, accessed via **Managed Identity** so no secrets live in code or config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shift from the high-level architecture to the actual infrastructure-as-code that provisions every Azure resource. The entire stack is defined in modular Bicep templates, which means every environment is reproducible, auditable, and version-controlled. We will look at the three core modules, the zero-secret security model, and the environment strategy that lets one codebase drive dev, staging, and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infrastructure is split into three Bicep modules that compose cleanly inside main.bicep. First, cognitive-services.bicep provisions an Azure AI Language account — the F0 free tier keeps dev and staging costs at zero, while production uses the S standard tier for higher throughput and SLA coverage. Second, app-service.bicep creates a Linux App Service running Node.js 18 LTS with a system-assigned managed identity — this identity is the linchpin of the security model we will discuss next. Third, key-vault.bicep stands up a Key Vault configured for RBAC authorization rather than legacy access policies, and assigns the Key Vault Secrets User role to the App Service identity so it can read secrets like the Twitter bearer token and the Text Analytics key at runtime.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captures the zero-trust security posture of the application. Step one: the App Service is provisioned with a system-assigned managed identity, eliminating the need to store passwords or connection strings anywhere. Step two: that identity receives the Key Vault Secrets User role — a read-only, least-privilege grant — so it can retrieve secrets but never modify or delete them. Step three: the application configuration itself contains only non-sensitive values such as the AI Language endpoint URL, the Key Vault URI, and the NODE_ENV flag. The actual API keys and the Twitter bearer token live exclusively in Key Vault, protected by the @secure() decorator in Bicep so they never appear in deployment logs or state files. This layered approach means there is literally no secret in source control, CI/CD variables, or App Service configuration to leak.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environments — dev, staging, and production — are deployed from the same set of Bicep templates. The only thing that changes is the parameter file: dev.bicepparam, staging.bicepparam, or prod.bicepparam. Dev uses a B1 Basic App Service plan and the F0 free tier for AI Language, giving developers a cost-effective sandbox with Always On enabled for faster cold starts. Staging drops to the F1 free App Service tier with Always On disabled — it is meant for integration testing, not sustained load. Production scales up to P1v3 Premium and the S standard AI Language tier, with Always On enabled and NODE_ENV set to production to activate Express.js optimizations. This approach ensures infrastructure parity across environments while right-sizing cost and performance for each stage of the delivery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shift from infrastructure to application code. In this section we trace the full request lifecycle: a user types a stock ticker, the backend validates it, checks the cache, fetches recent tweets from X, runs sentiment analysis through Azure AI Language, and aggregates the results into a Bullish, Bearish, or Neutral verdict. We will look at the pipeline design, the batching strategy, and the resilience patterns that keep costs low and uptime high.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five-stage pipeline behind POST /api/analyze. Stage one validates the ticker symbol against a strict regex and normalizes it to uppercase with a dollar-sign prefix. Stage two checks an in-memory cache keyed by the normalized ticker — if a result exists and is less than five minutes old, we return it immediately, saving both X API and Azure AI calls. Stage three uses the X API v2 Recent Search endpoint to fetch up to 50 recent English-language tweets mentioning the ticker. Stage four sends those tweets to Azure AI Language for sentiment analysis, batching them in groups of 10 to respect the SDK limit and minimize round trips. Stage five applies the aggregation logic: if the average positive score exceeds the average negative score by more than 10 percentage points, the verdict is Bullish; if the reverse is true, Bearish; otherwise Neutral. The final result is cached and returned to the frontend.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design decisions keep this application efficient and predictable. On the left, the batching strategy: Azure AI Language accepts up to 10 documents per API call, so we chunk the tweet array into batches of 10 before sending. For 50 tweets that means 5 API calls instead of 50, cutting network overhead by 90 percent. Each document is handled independently — if one tweet fails to parse, the rest of the batch still returns results, so a single malformed input never poisons the whole request. On the right, the aggregation logic: we compute the average positive and average negative confidence scores across all successfully analyzed tweets. If the positive average leads the negative average by more than 10 percentage points, we call the sentiment Bullish. If the negative leads by the same margin, Bearish. Anything within that 10 percent band is classified as Neutral. Tweets with an unknown sentiment label are filtered out before averaging to avoid skewing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resilience features are baked into the application from day one. First, caching: every successful analysis result is stored in memory with a five-minute TTL keyed by the normalized ticker symbol. This means repeated queries for the same stock within five minutes hit the cache instead of burning X API and Azure AI quota. Second, rate limiting: express-rate-limit caps clients at 100 requests per 15-minute window, returning a 429 status when the limit is exceeded. This protects both the server and downstream APIs from runaway traffic or abuse. Third, dual-mode secrets management via keyvault.js: when running on Azure the app uses Key Vault backed by a managed identity — no credentials in code. For local development it falls back to environment variables loaded from a dotenv file, so developers can get started without provisioning Key Vault. Fourth, input validation: a strict regex /^\$?[A-Z]{1,10}$/i rejects anything that does not look like a stock ticker before the request touches any external service, preventing injection and wasted API calls.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covered the architecture, the AI pipeline, and the infrastructure. Now let's see what the end user actually experiences when they type a ticker like $MSFT or $TSLA into the dashboard. This section walks through the live UI, the cost profile, and wraps up with key takeaways and resources.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dark-themed dashboard has three main UI components.</a:t>
            </a:r>
          </a:p>
          <a:p/>
          <a:p>
            <a:r>
              <a:t>1) Summary Card – sits at the top and shows the overall verdict (Bullish, Bearish, or Neutral) derived from averaging per-post sentiment scores. Color coding makes the verdict instantly scannable: green for bullish, red for bearish, gray for neutral. It also displays total posts analyzed and average confidence.</a:t>
            </a:r>
          </a:p>
          <a:p/>
          <a:p>
            <a:r>
              <a:t>2) Pie Chart – a Chart.js donut visualization breaks down the sentiment distribution across four categories: positive, negative, neutral, and mixed. Hover tooltips show exact counts and percentages.</a:t>
            </a:r>
          </a:p>
          <a:p/>
          <a:p>
            <a:r>
              <a:t>3) Post Cards – each individual social-media post is rendered as a card with a colored sentiment badge (e.g., green 'Positive') and a horizontal confidence bar so users can judge how certain the AI model was about its classification.</a:t>
            </a:r>
          </a:p>
          <a:p/>
          <a:p>
            <a:r>
              <a:t>Together these components give analysts a complete picture in under three seconds from the moment they enter a ticker symbol.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strongest selling points of this architecture is its cost efficiency.</a:t>
            </a:r>
          </a:p>
          <a:p/>
          <a:p>
            <a:r>
              <a:t>Azure AI Language free tier gives you 5,000 text records per month at zero cost – more than enough for a proof-of-concept or low-traffic internal tool. When you outgrow that, the Standard tier is only $1 per 1,000 records, making it extremely affordable even at scale.</a:t>
            </a:r>
          </a:p>
          <a:p/>
          <a:p>
            <a:r>
              <a:t>App Service B1 (~$13/month) is ideal for development and light workloads. For production traffic, upgrade to P1v3 which adds auto-scale, deployment slots, and better CPU/memory.</a:t>
            </a:r>
          </a:p>
          <a:p/>
          <a:p>
            <a:r>
              <a:t>Key Vault operations cost roughly $0.03 per 10,000 operations – essentially negligible.</a:t>
            </a:r>
          </a:p>
          <a:p/>
          <a:p>
            <a:r>
              <a:t>End-to-end analysis latency (user submits ticker → results rendered) is typically under three seconds, including social-media fetch, AI batch call, and rendering.</a:t>
            </a:r>
          </a:p>
          <a:p/>
          <a:p>
            <a:r>
              <a:t>With response caching enabled, repeated lookups for the same ticker within a configurable TTL window hit zero AI API calls, keeping the monthly bill well inside the free tier for most teams.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the four key takeaways from this session.</a:t>
            </a:r>
          </a:p>
          <a:p/>
          <a:p>
            <a:r>
              <a:t>First – Azure AI Language is not a toy. It returns per-document and per-sentence confidence scores across positive, negative, neutral, and mixed categories, giving you production-grade signal out of the box.</a:t>
            </a:r>
          </a:p>
          <a:p/>
          <a:p>
            <a:r>
              <a:t>Second – by wiring up managed identity between App Service and Key Vault, we completely eliminated API keys, connection strings, and .env files from our deployment pipeline. Zero secrets in code, zero secrets in CI/CD.</a:t>
            </a:r>
          </a:p>
          <a:p/>
          <a:p>
            <a:r>
              <a:t>Third – modular Bicep with parameter files per environment means the same templates deploy to dev, staging, and production with different SKUs, scaling rules, and network policies.</a:t>
            </a:r>
          </a:p>
          <a:p/>
          <a:p>
            <a:r>
              <a:t>Fourth – our smart batching strategy groups up to 25 documents per API call (the service maximum), cutting network round-trips by roughly 10x. Combined with a short TTL cache on repeated ticker lookups, most teams stay inside the free tier indefinitely.</a:t>
            </a:r>
          </a:p>
          <a:p/>
          <a:p>
            <a:r>
              <a:t>The resources slide links to official Microsoft Learn documentation for Azure AI Language, App Service, and Key Vault best practices. I encourage you to clone the sample repo and try it with your own tickers.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ead-b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772400" y="0"/>
            <a:ext cx="4419295"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0" y="1371600"/>
            <a:ext cx="4114800" cy="41148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26880" y="2011680"/>
            <a:ext cx="2834640" cy="2834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4400" b="1">
                <a:solidFill>
                  <a:srgbClr val="FFFFFF"/>
                </a:solidFill>
                <a:latin typeface="Segoe UI"/>
              </a:rPr>
              <a:t>L200</a:t>
            </a:r>
          </a:p>
          <a:p>
            <a:pPr algn="ctr">
              <a:spcBef>
                <a:spcPts val="200"/>
              </a:spcBef>
            </a:pPr>
            <a:r>
              <a:rPr sz="1100" b="0">
                <a:solidFill>
                  <a:srgbClr val="CCE4FF"/>
                </a:solidFill>
                <a:latin typeface="Segoe UI"/>
              </a:rPr>
              <a:t>Content Level</a:t>
            </a:r>
          </a:p>
        </p:txBody>
      </p:sp>
      <p:pic>
        <p:nvPicPr>
          <p:cNvPr id="6" name="Picture 5" descr="microsoft.png"/>
          <p:cNvPicPr>
            <a:picLocks noChangeAspect="1"/>
          </p:cNvPicPr>
          <p:nvPr/>
        </p:nvPicPr>
        <p:blipFill>
          <a:blip r:embed="rId3"/>
          <a:stretch>
            <a:fillRect/>
          </a:stretch>
        </p:blipFill>
        <p:spPr>
          <a:xfrm>
            <a:off x="548640" y="457200"/>
            <a:ext cx="1463040" cy="312420"/>
          </a:xfrm>
          <a:prstGeom prst="rect">
            <a:avLst/>
          </a:prstGeom>
        </p:spPr>
      </p:pic>
      <p:sp>
        <p:nvSpPr>
          <p:cNvPr id="7" name="TextBox 6"/>
          <p:cNvSpPr txBox="1"/>
          <p:nvPr/>
        </p:nvSpPr>
        <p:spPr>
          <a:xfrm>
            <a:off x="731520" y="1828800"/>
            <a:ext cx="6400800" cy="1645920"/>
          </a:xfrm>
          <a:prstGeom prst="rect">
            <a:avLst/>
          </a:prstGeom>
          <a:noFill/>
        </p:spPr>
        <p:txBody>
          <a:bodyPr wrap="square">
            <a:normAutofit/>
          </a:bodyPr>
          <a:lstStyle/>
          <a:p>
            <a:pPr algn="l"/>
            <a:r>
              <a:rPr sz="4600" b="0" i="0" spc="50">
                <a:solidFill>
                  <a:srgbClr val="243A5E"/>
                </a:solidFill>
                <a:latin typeface="Segoe UI Light"/>
              </a:rPr>
              <a:t>Stock Sentiment Analysis</a:t>
            </a:r>
          </a:p>
        </p:txBody>
      </p:sp>
      <p:sp>
        <p:nvSpPr>
          <p:cNvPr id="8" name="TextBox 7"/>
          <p:cNvSpPr txBox="1"/>
          <p:nvPr/>
        </p:nvSpPr>
        <p:spPr>
          <a:xfrm>
            <a:off x="731520" y="3840480"/>
            <a:ext cx="6400800" cy="548640"/>
          </a:xfrm>
          <a:prstGeom prst="rect">
            <a:avLst/>
          </a:prstGeom>
          <a:noFill/>
        </p:spPr>
        <p:txBody>
          <a:bodyPr wrap="square">
            <a:spAutoFit/>
          </a:bodyPr>
          <a:lstStyle/>
          <a:p>
            <a:pPr algn="l"/>
            <a:r>
              <a:rPr sz="2000" b="0" i="0">
                <a:solidFill>
                  <a:srgbClr val="0078D4"/>
                </a:solidFill>
                <a:latin typeface="Segoe UI"/>
              </a:rPr>
              <a:t>Real-Time Social Sentiment from X.com
powered by Azure AI Language</a:t>
            </a:r>
          </a:p>
        </p:txBody>
      </p:sp>
      <p:sp>
        <p:nvSpPr>
          <p:cNvPr id="9" name="TextBox 8"/>
          <p:cNvSpPr txBox="1"/>
          <p:nvPr/>
        </p:nvSpPr>
        <p:spPr>
          <a:xfrm>
            <a:off x="731520" y="4754880"/>
            <a:ext cx="6400800" cy="365760"/>
          </a:xfrm>
          <a:prstGeom prst="rect">
            <a:avLst/>
          </a:prstGeom>
          <a:noFill/>
        </p:spPr>
        <p:txBody>
          <a:bodyPr wrap="square">
            <a:spAutoFit/>
          </a:bodyPr>
          <a:lstStyle/>
          <a:p>
            <a:pPr algn="l"/>
            <a:r>
              <a:rPr sz="1300" b="0" i="0">
                <a:solidFill>
                  <a:srgbClr val="616161"/>
                </a:solidFill>
                <a:latin typeface="Segoe UI"/>
              </a:rPr>
              <a:t>L200 Architecture Overview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Agenda</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731520" y="1097280"/>
            <a:ext cx="10058400" cy="640080"/>
          </a:xfrm>
          <a:prstGeom prst="roundRect">
            <a:avLst>
              <a:gd name="adj" fmla="val 4000"/>
            </a:avLst>
          </a:prstGeom>
          <a:solidFill>
            <a:srgbClr val="EFF6FC"/>
          </a:solidFill>
          <a:ln w="12700">
            <a:solidFill>
              <a:srgbClr val="CCE4FF"/>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18872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1</a:t>
            </a:r>
          </a:p>
        </p:txBody>
      </p:sp>
      <p:sp>
        <p:nvSpPr>
          <p:cNvPr id="6" name="TextBox 5"/>
          <p:cNvSpPr txBox="1"/>
          <p:nvPr/>
        </p:nvSpPr>
        <p:spPr>
          <a:xfrm>
            <a:off x="1463040" y="1188720"/>
            <a:ext cx="9144000" cy="457200"/>
          </a:xfrm>
          <a:prstGeom prst="rect">
            <a:avLst/>
          </a:prstGeom>
          <a:noFill/>
        </p:spPr>
        <p:txBody>
          <a:bodyPr wrap="square">
            <a:spAutoFit/>
          </a:bodyPr>
          <a:lstStyle/>
          <a:p>
            <a:pPr algn="l"/>
            <a:r>
              <a:rPr sz="2000" b="0" i="0">
                <a:solidFill>
                  <a:srgbClr val="243A5E"/>
                </a:solidFill>
                <a:latin typeface="Segoe UI"/>
              </a:rPr>
              <a:t>The Challenge: Real-Time Social Sentiment</a:t>
            </a:r>
          </a:p>
        </p:txBody>
      </p:sp>
      <p:sp>
        <p:nvSpPr>
          <p:cNvPr id="7" name="Rounded Rectangle 6"/>
          <p:cNvSpPr/>
          <p:nvPr/>
        </p:nvSpPr>
        <p:spPr>
          <a:xfrm>
            <a:off x="731520" y="1810512"/>
            <a:ext cx="10058400" cy="640080"/>
          </a:xfrm>
          <a:prstGeom prst="roundRect">
            <a:avLst>
              <a:gd name="adj" fmla="val 4000"/>
            </a:avLst>
          </a:prstGeom>
          <a:solidFill>
            <a:srgbClr val="EFF6FC"/>
          </a:solidFill>
          <a:ln w="12700">
            <a:solidFill>
              <a:srgbClr val="CCE4FF"/>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901952"/>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2</a:t>
            </a:r>
          </a:p>
        </p:txBody>
      </p:sp>
      <p:sp>
        <p:nvSpPr>
          <p:cNvPr id="9" name="TextBox 8"/>
          <p:cNvSpPr txBox="1"/>
          <p:nvPr/>
        </p:nvSpPr>
        <p:spPr>
          <a:xfrm>
            <a:off x="1463040" y="1901952"/>
            <a:ext cx="9144000" cy="457200"/>
          </a:xfrm>
          <a:prstGeom prst="rect">
            <a:avLst/>
          </a:prstGeom>
          <a:noFill/>
        </p:spPr>
        <p:txBody>
          <a:bodyPr wrap="square">
            <a:spAutoFit/>
          </a:bodyPr>
          <a:lstStyle/>
          <a:p>
            <a:pPr algn="l"/>
            <a:r>
              <a:rPr sz="2000" b="0" i="0">
                <a:solidFill>
                  <a:srgbClr val="243A5E"/>
                </a:solidFill>
                <a:latin typeface="Segoe UI"/>
              </a:rPr>
              <a:t>Solution Architecture</a:t>
            </a:r>
          </a:p>
        </p:txBody>
      </p:sp>
      <p:sp>
        <p:nvSpPr>
          <p:cNvPr id="10" name="Rounded Rectangle 9"/>
          <p:cNvSpPr/>
          <p:nvPr/>
        </p:nvSpPr>
        <p:spPr>
          <a:xfrm>
            <a:off x="731520" y="2523744"/>
            <a:ext cx="10058400" cy="640080"/>
          </a:xfrm>
          <a:prstGeom prst="roundRect">
            <a:avLst>
              <a:gd name="adj" fmla="val 4000"/>
            </a:avLst>
          </a:prstGeom>
          <a:solidFill>
            <a:srgbClr val="EFF6FC"/>
          </a:solidFill>
          <a:ln w="12700">
            <a:solidFill>
              <a:srgbClr val="CCE4FF"/>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2615184"/>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3</a:t>
            </a:r>
          </a:p>
        </p:txBody>
      </p:sp>
      <p:sp>
        <p:nvSpPr>
          <p:cNvPr id="12" name="TextBox 11"/>
          <p:cNvSpPr txBox="1"/>
          <p:nvPr/>
        </p:nvSpPr>
        <p:spPr>
          <a:xfrm>
            <a:off x="1463040" y="2615184"/>
            <a:ext cx="9144000" cy="457200"/>
          </a:xfrm>
          <a:prstGeom prst="rect">
            <a:avLst/>
          </a:prstGeom>
          <a:noFill/>
        </p:spPr>
        <p:txBody>
          <a:bodyPr wrap="square">
            <a:spAutoFit/>
          </a:bodyPr>
          <a:lstStyle/>
          <a:p>
            <a:pPr algn="l"/>
            <a:r>
              <a:rPr sz="2000" b="0" i="0">
                <a:solidFill>
                  <a:srgbClr val="243A5E"/>
                </a:solidFill>
                <a:latin typeface="Segoe UI"/>
              </a:rPr>
              <a:t>Azure Infrastructure (Bicep)</a:t>
            </a:r>
          </a:p>
        </p:txBody>
      </p:sp>
      <p:sp>
        <p:nvSpPr>
          <p:cNvPr id="13" name="Rounded Rectangle 12"/>
          <p:cNvSpPr/>
          <p:nvPr/>
        </p:nvSpPr>
        <p:spPr>
          <a:xfrm>
            <a:off x="731520" y="3236976"/>
            <a:ext cx="10058400" cy="640080"/>
          </a:xfrm>
          <a:prstGeom prst="roundRect">
            <a:avLst>
              <a:gd name="adj" fmla="val 4000"/>
            </a:avLst>
          </a:prstGeom>
          <a:solidFill>
            <a:srgbClr val="EFF6FC"/>
          </a:solidFill>
          <a:ln w="12700">
            <a:solidFill>
              <a:srgbClr val="CCE4FF"/>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3328416"/>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4</a:t>
            </a:r>
          </a:p>
        </p:txBody>
      </p:sp>
      <p:sp>
        <p:nvSpPr>
          <p:cNvPr id="15" name="TextBox 14"/>
          <p:cNvSpPr txBox="1"/>
          <p:nvPr/>
        </p:nvSpPr>
        <p:spPr>
          <a:xfrm>
            <a:off x="1463040" y="3328416"/>
            <a:ext cx="9144000" cy="457200"/>
          </a:xfrm>
          <a:prstGeom prst="rect">
            <a:avLst/>
          </a:prstGeom>
          <a:noFill/>
        </p:spPr>
        <p:txBody>
          <a:bodyPr wrap="square">
            <a:spAutoFit/>
          </a:bodyPr>
          <a:lstStyle/>
          <a:p>
            <a:pPr algn="l"/>
            <a:r>
              <a:rPr sz="2000" b="0" i="0">
                <a:solidFill>
                  <a:srgbClr val="243A5E"/>
                </a:solidFill>
                <a:latin typeface="Segoe UI"/>
              </a:rPr>
              <a:t>Application Deep Dive</a:t>
            </a:r>
          </a:p>
        </p:txBody>
      </p:sp>
      <p:sp>
        <p:nvSpPr>
          <p:cNvPr id="16" name="Rounded Rectangle 15"/>
          <p:cNvSpPr/>
          <p:nvPr/>
        </p:nvSpPr>
        <p:spPr>
          <a:xfrm>
            <a:off x="731520" y="3950208"/>
            <a:ext cx="10058400" cy="640080"/>
          </a:xfrm>
          <a:prstGeom prst="roundRect">
            <a:avLst>
              <a:gd name="adj" fmla="val 4000"/>
            </a:avLst>
          </a:prstGeom>
          <a:solidFill>
            <a:srgbClr val="EFF6FC"/>
          </a:solidFill>
          <a:ln w="12700">
            <a:solidFill>
              <a:srgbClr val="CCE4FF"/>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4041648"/>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5</a:t>
            </a:r>
          </a:p>
        </p:txBody>
      </p:sp>
      <p:sp>
        <p:nvSpPr>
          <p:cNvPr id="18" name="TextBox 17"/>
          <p:cNvSpPr txBox="1"/>
          <p:nvPr/>
        </p:nvSpPr>
        <p:spPr>
          <a:xfrm>
            <a:off x="1463040" y="4041648"/>
            <a:ext cx="9144000" cy="457200"/>
          </a:xfrm>
          <a:prstGeom prst="rect">
            <a:avLst/>
          </a:prstGeom>
          <a:noFill/>
        </p:spPr>
        <p:txBody>
          <a:bodyPr wrap="square">
            <a:spAutoFit/>
          </a:bodyPr>
          <a:lstStyle/>
          <a:p>
            <a:pPr algn="l"/>
            <a:r>
              <a:rPr sz="2000" b="0" i="0">
                <a:solidFill>
                  <a:srgbClr val="243A5E"/>
                </a:solidFill>
                <a:latin typeface="Segoe UI"/>
              </a:rPr>
              <a:t>Live Experience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43A5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097280"/>
            <a:ext cx="4114800" cy="41148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303520"/>
            <a:ext cx="1371600" cy="13716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9144000" cy="1097280"/>
          </a:xfrm>
          <a:prstGeom prst="rect">
            <a:avLst/>
          </a:prstGeom>
          <a:noFill/>
        </p:spPr>
        <p:txBody>
          <a:bodyPr wrap="square">
            <a:normAutofit/>
          </a:bodyPr>
          <a:lstStyle/>
          <a:p>
            <a:pPr algn="l"/>
            <a:r>
              <a:rPr sz="4400" b="0" i="0" spc="50">
                <a:solidFill>
                  <a:srgbClr val="FFFFFF"/>
                </a:solidFill>
                <a:latin typeface="Segoe UI Light"/>
              </a:rPr>
              <a:t>The Challenge</a:t>
            </a:r>
          </a:p>
        </p:txBody>
      </p:sp>
      <p:sp>
        <p:nvSpPr>
          <p:cNvPr id="6" name="TextBox 5"/>
          <p:cNvSpPr txBox="1"/>
          <p:nvPr/>
        </p:nvSpPr>
        <p:spPr>
          <a:xfrm>
            <a:off x="914400" y="3749039"/>
            <a:ext cx="8229600" cy="731520"/>
          </a:xfrm>
          <a:prstGeom prst="rect">
            <a:avLst/>
          </a:prstGeom>
          <a:noFill/>
        </p:spPr>
        <p:txBody>
          <a:bodyPr wrap="square">
            <a:spAutoFit/>
          </a:bodyPr>
          <a:lstStyle/>
          <a:p>
            <a:pPr algn="l"/>
            <a:r>
              <a:rPr sz="1800" b="0" i="0">
                <a:solidFill>
                  <a:srgbClr val="CCE4FF"/>
                </a:solidFill>
                <a:latin typeface="Segoe UI"/>
              </a:rPr>
              <a:t>Understanding real-time social sentiment at scale</a:t>
            </a:r>
          </a:p>
        </p:txBody>
      </p:sp>
      <p:pic>
        <p:nvPicPr>
          <p:cNvPr id="7" name="Picture 6" descr="microsoft.png"/>
          <p:cNvPicPr>
            <a:picLocks noChangeAspect="1"/>
          </p:cNvPicPr>
          <p:nvPr/>
        </p:nvPicPr>
        <p:blipFill>
          <a:blip r:embed="rId2"/>
          <a:stretch>
            <a:fillRect/>
          </a:stretch>
        </p:blipFill>
        <p:spPr>
          <a:xfrm>
            <a:off x="10454335" y="6217920"/>
            <a:ext cx="1371600" cy="29289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Why Social Sentiment Matters for Stocks</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grpSp>
        <p:nvGrpSpPr>
          <p:cNvPr id="110" name="Group"/>
          <p:cNvGrpSpPr/>
          <p:nvPr/>
        </p:nvGrpSpPr>
        <p:grpSpPr>
          <a:xfrm>
            <a:off x="731520" y="1097280"/>
            <a:ext cx="4206240" cy="1920240"/>
            <a:chOff x="731520" y="1097280"/>
            <a:chExt cx="4206240" cy="1920240"/>
          </a:xfrm>
        </p:grpSpPr>
        <p:sp>
          <p:nvSpPr>
            <p:cNvPr id="4" name="Rounded Rectangle 3"/>
            <p:cNvSpPr/>
            <p:nvPr/>
          </p:nvSpPr>
          <p:spPr>
            <a:xfrm>
              <a:off x="731520" y="1097280"/>
              <a:ext cx="4206240" cy="1920240"/>
            </a:xfrm>
            <a:prstGeom prst="roundRect">
              <a:avLst>
                <a:gd name="adj" fmla="val 5000"/>
              </a:avLst>
            </a:prstGeom>
            <a:solidFill>
              <a:srgbClr val="0078D4"/>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170432"/>
              <a:ext cx="420624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346911"/>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1</a:t>
              </a:r>
            </a:p>
          </p:txBody>
        </p:sp>
        <p:sp>
          <p:nvSpPr>
            <p:cNvPr id="7" name="TextBox 6"/>
            <p:cNvSpPr txBox="1"/>
            <p:nvPr/>
          </p:nvSpPr>
          <p:spPr>
            <a:xfrm>
              <a:off x="1600200" y="1346911"/>
              <a:ext cx="3108960" cy="345643"/>
            </a:xfrm>
            <a:prstGeom prst="rect">
              <a:avLst/>
            </a:prstGeom>
            <a:noFill/>
          </p:spPr>
          <p:txBody>
            <a:bodyPr wrap="square">
              <a:normAutofit/>
            </a:bodyPr>
            <a:lstStyle/>
            <a:p>
              <a:pPr algn="l"/>
              <a:r>
                <a:rPr sz="1600" b="1" i="0">
                  <a:solidFill>
                    <a:srgbClr val="243A5E"/>
                  </a:solidFill>
                  <a:latin typeface="Segoe UI Semibold"/>
                </a:rPr>
                <a:t>Volume</a:t>
              </a:r>
            </a:p>
          </p:txBody>
        </p:sp>
        <p:sp>
          <p:nvSpPr>
            <p:cNvPr id="8" name="TextBox 7"/>
            <p:cNvSpPr txBox="1"/>
            <p:nvPr/>
          </p:nvSpPr>
          <p:spPr>
            <a:xfrm>
              <a:off x="1600200" y="1730959"/>
              <a:ext cx="3108960" cy="1152144"/>
            </a:xfrm>
            <a:prstGeom prst="rect">
              <a:avLst/>
            </a:prstGeom>
            <a:noFill/>
          </p:spPr>
          <p:txBody>
            <a:bodyPr wrap="square">
              <a:normAutofit/>
            </a:bodyPr>
            <a:lstStyle/>
            <a:p>
              <a:pPr algn="l"/>
              <a:r>
                <a:rPr sz="1200" b="0" i="0">
                  <a:solidFill>
                    <a:srgbClr val="616161"/>
                  </a:solidFill>
                  <a:latin typeface="Segoe UI"/>
                </a:rPr>
                <a:t>Millions of posts daily about stocks on X.com — </a:t>
              </a:r>
              <a:r>
                <a:rPr sz="1200" b="1" i="0">
                  <a:solidFill>
                    <a:srgbClr val="616161"/>
                  </a:solidFill>
                  <a:latin typeface="Segoe UI Semibold"/>
                </a:rPr>
                <a:t>impossible to read manually</a:t>
              </a:r>
            </a:p>
          </p:txBody>
        </p:sp>
      </p:grpSp>
      <p:grpSp>
        <p:nvGrpSpPr>
          <p:cNvPr id="111" name="Group"/>
          <p:cNvGrpSpPr/>
          <p:nvPr/>
        </p:nvGrpSpPr>
        <p:grpSpPr>
          <a:xfrm>
            <a:off x="5303520" y="1097280"/>
            <a:ext cx="4206240" cy="1920240"/>
            <a:chOff x="5303520" y="1097280"/>
            <a:chExt cx="4206240" cy="1920240"/>
          </a:xfrm>
        </p:grpSpPr>
        <p:sp>
          <p:nvSpPr>
            <p:cNvPr id="111" name="Rounded Rectangle 110"/>
            <p:cNvSpPr/>
            <p:nvPr/>
          </p:nvSpPr>
          <p:spPr>
            <a:xfrm>
              <a:off x="5303520" y="1097280"/>
              <a:ext cx="4206240" cy="1920240"/>
            </a:xfrm>
            <a:prstGeom prst="roundRect">
              <a:avLst>
                <a:gd name="adj" fmla="val 5000"/>
              </a:avLst>
            </a:prstGeom>
            <a:solidFill>
              <a:srgbClr val="243A5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5303520" y="1170432"/>
              <a:ext cx="420624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5532120" y="1346911"/>
              <a:ext cx="457200" cy="4572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2</a:t>
              </a:r>
            </a:p>
          </p:txBody>
        </p:sp>
        <p:sp>
          <p:nvSpPr>
            <p:cNvPr id="114" name="TextBox 113"/>
            <p:cNvSpPr txBox="1"/>
            <p:nvPr/>
          </p:nvSpPr>
          <p:spPr>
            <a:xfrm>
              <a:off x="6172200" y="1346911"/>
              <a:ext cx="3108960" cy="345643"/>
            </a:xfrm>
            <a:prstGeom prst="rect">
              <a:avLst/>
            </a:prstGeom>
            <a:noFill/>
          </p:spPr>
          <p:txBody>
            <a:bodyPr wrap="square">
              <a:normAutofit/>
            </a:bodyPr>
            <a:lstStyle/>
            <a:p>
              <a:pPr algn="l"/>
              <a:r>
                <a:rPr sz="1600" b="1" i="0">
                  <a:solidFill>
                    <a:srgbClr val="243A5E"/>
                  </a:solidFill>
                  <a:latin typeface="Segoe UI Semibold"/>
                </a:rPr>
                <a:t>Speed</a:t>
              </a:r>
            </a:p>
          </p:txBody>
        </p:sp>
        <p:sp>
          <p:nvSpPr>
            <p:cNvPr id="115" name="TextBox 114"/>
            <p:cNvSpPr txBox="1"/>
            <p:nvPr/>
          </p:nvSpPr>
          <p:spPr>
            <a:xfrm>
              <a:off x="6172200" y="1730959"/>
              <a:ext cx="3108960" cy="1152144"/>
            </a:xfrm>
            <a:prstGeom prst="rect">
              <a:avLst/>
            </a:prstGeom>
            <a:noFill/>
          </p:spPr>
          <p:txBody>
            <a:bodyPr wrap="square">
              <a:normAutofit/>
            </a:bodyPr>
            <a:lstStyle/>
            <a:p>
              <a:pPr algn="l"/>
              <a:r>
                <a:rPr sz="1200" b="0" i="0">
                  <a:solidFill>
                    <a:srgbClr val="616161"/>
                  </a:solidFill>
                  <a:latin typeface="Segoe UI"/>
                </a:rPr>
                <a:t>Market sentiment shifts in minutes — </a:t>
              </a:r>
              <a:r>
                <a:rPr sz="1200" b="1" i="0">
                  <a:solidFill>
                    <a:srgbClr val="616161"/>
                  </a:solidFill>
                  <a:latin typeface="Segoe UI Semibold"/>
                </a:rPr>
                <a:t>traditional surveys take weeks</a:t>
              </a:r>
            </a:p>
          </p:txBody>
        </p:sp>
      </p:grpSp>
      <p:grpSp>
        <p:nvGrpSpPr>
          <p:cNvPr id="112" name="Group"/>
          <p:cNvGrpSpPr/>
          <p:nvPr/>
        </p:nvGrpSpPr>
        <p:grpSpPr>
          <a:xfrm>
            <a:off x="731520" y="3337560"/>
            <a:ext cx="4206240" cy="1920240"/>
            <a:chOff x="731520" y="3337560"/>
            <a:chExt cx="4206240" cy="1920240"/>
          </a:xfrm>
        </p:grpSpPr>
        <p:sp>
          <p:nvSpPr>
            <p:cNvPr id="116" name="Rounded Rectangle 115"/>
            <p:cNvSpPr/>
            <p:nvPr/>
          </p:nvSpPr>
          <p:spPr>
            <a:xfrm>
              <a:off x="731520" y="3337560"/>
              <a:ext cx="4206240" cy="1920240"/>
            </a:xfrm>
            <a:prstGeom prst="roundRect">
              <a:avLst>
                <a:gd name="adj" fmla="val 5000"/>
              </a:avLst>
            </a:prstGeom>
            <a:solidFill>
              <a:srgbClr val="006CB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731520" y="3410712"/>
              <a:ext cx="420624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60120" y="3587191"/>
              <a:ext cx="457200" cy="457200"/>
            </a:xfrm>
            <a:prstGeom prst="ellipse">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3</a:t>
              </a:r>
            </a:p>
          </p:txBody>
        </p:sp>
        <p:sp>
          <p:nvSpPr>
            <p:cNvPr id="119" name="TextBox 118"/>
            <p:cNvSpPr txBox="1"/>
            <p:nvPr/>
          </p:nvSpPr>
          <p:spPr>
            <a:xfrm>
              <a:off x="1600200" y="3587191"/>
              <a:ext cx="3108960" cy="345643"/>
            </a:xfrm>
            <a:prstGeom prst="rect">
              <a:avLst/>
            </a:prstGeom>
            <a:noFill/>
          </p:spPr>
          <p:txBody>
            <a:bodyPr wrap="square">
              <a:normAutofit/>
            </a:bodyPr>
            <a:lstStyle/>
            <a:p>
              <a:pPr algn="l"/>
              <a:r>
                <a:rPr sz="1600" b="1" i="0">
                  <a:solidFill>
                    <a:srgbClr val="243A5E"/>
                  </a:solidFill>
                  <a:latin typeface="Segoe UI Semibold"/>
                </a:rPr>
                <a:t>Nuance</a:t>
              </a:r>
            </a:p>
          </p:txBody>
        </p:sp>
        <p:sp>
          <p:nvSpPr>
            <p:cNvPr id="120" name="TextBox 119"/>
            <p:cNvSpPr txBox="1"/>
            <p:nvPr/>
          </p:nvSpPr>
          <p:spPr>
            <a:xfrm>
              <a:off x="1600200" y="3971239"/>
              <a:ext cx="3108960" cy="1152144"/>
            </a:xfrm>
            <a:prstGeom prst="rect">
              <a:avLst/>
            </a:prstGeom>
            <a:noFill/>
          </p:spPr>
          <p:txBody>
            <a:bodyPr wrap="square">
              <a:normAutofit/>
            </a:bodyPr>
            <a:lstStyle/>
            <a:p>
              <a:pPr algn="l"/>
              <a:r>
                <a:rPr sz="1200" b="0" i="0">
                  <a:solidFill>
                    <a:srgbClr val="616161"/>
                  </a:solidFill>
                  <a:latin typeface="Segoe UI"/>
                </a:rPr>
                <a:t>AI detects </a:t>
              </a:r>
              <a:r>
                <a:rPr sz="1200" b="1" i="0">
                  <a:solidFill>
                    <a:srgbClr val="616161"/>
                  </a:solidFill>
                  <a:latin typeface="Segoe UI Semibold"/>
                </a:rPr>
                <a:t>subtle positive/negative signals</a:t>
              </a:r>
              <a:r>
                <a:rPr sz="1200" b="0" i="0">
                  <a:solidFill>
                    <a:srgbClr val="616161"/>
                  </a:solidFill>
                  <a:latin typeface="Segoe UI"/>
                </a:rPr>
                <a:t> humans miss at scale</a:t>
              </a:r>
            </a:p>
          </p:txBody>
        </p:sp>
      </p:grpSp>
      <p:grpSp>
        <p:nvGrpSpPr>
          <p:cNvPr id="113" name="Group"/>
          <p:cNvGrpSpPr/>
          <p:nvPr/>
        </p:nvGrpSpPr>
        <p:grpSpPr>
          <a:xfrm>
            <a:off x="5303520" y="3337560"/>
            <a:ext cx="4206240" cy="1920240"/>
            <a:chOff x="5303520" y="3337560"/>
            <a:chExt cx="4206240" cy="1920240"/>
          </a:xfrm>
        </p:grpSpPr>
        <p:sp>
          <p:nvSpPr>
            <p:cNvPr id="121" name="Rounded Rectangle 120"/>
            <p:cNvSpPr/>
            <p:nvPr/>
          </p:nvSpPr>
          <p:spPr>
            <a:xfrm>
              <a:off x="5303520" y="3337560"/>
              <a:ext cx="4206240" cy="1920240"/>
            </a:xfrm>
            <a:prstGeom prst="roundRect">
              <a:avLst>
                <a:gd name="adj" fmla="val 5000"/>
              </a:avLst>
            </a:prstGeom>
            <a:solidFill>
              <a:srgbClr val="2E4A6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5303520" y="3410712"/>
              <a:ext cx="420624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532120" y="3587191"/>
              <a:ext cx="457200" cy="4572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4</a:t>
              </a:r>
            </a:p>
          </p:txBody>
        </p:sp>
        <p:sp>
          <p:nvSpPr>
            <p:cNvPr id="124" name="TextBox 123"/>
            <p:cNvSpPr txBox="1"/>
            <p:nvPr/>
          </p:nvSpPr>
          <p:spPr>
            <a:xfrm>
              <a:off x="6172200" y="3587191"/>
              <a:ext cx="3108960" cy="345643"/>
            </a:xfrm>
            <a:prstGeom prst="rect">
              <a:avLst/>
            </a:prstGeom>
            <a:noFill/>
          </p:spPr>
          <p:txBody>
            <a:bodyPr wrap="square">
              <a:normAutofit/>
            </a:bodyPr>
            <a:lstStyle/>
            <a:p>
              <a:pPr algn="l"/>
              <a:r>
                <a:rPr sz="1600" b="1" i="0">
                  <a:solidFill>
                    <a:srgbClr val="243A5E"/>
                  </a:solidFill>
                  <a:latin typeface="Segoe UI Semibold"/>
                </a:rPr>
                <a:t>Actionable</a:t>
              </a:r>
            </a:p>
          </p:txBody>
        </p:sp>
        <p:sp>
          <p:nvSpPr>
            <p:cNvPr id="125" name="TextBox 124"/>
            <p:cNvSpPr txBox="1"/>
            <p:nvPr/>
          </p:nvSpPr>
          <p:spPr>
            <a:xfrm>
              <a:off x="6172200" y="3971239"/>
              <a:ext cx="3108960" cy="1152144"/>
            </a:xfrm>
            <a:prstGeom prst="rect">
              <a:avLst/>
            </a:prstGeom>
            <a:noFill/>
          </p:spPr>
          <p:txBody>
            <a:bodyPr wrap="square">
              <a:normAutofit/>
            </a:bodyPr>
            <a:lstStyle/>
            <a:p>
              <a:pPr algn="l"/>
              <a:r>
                <a:rPr sz="1200" b="0" i="0">
                  <a:solidFill>
                    <a:srgbClr val="616161"/>
                  </a:solidFill>
                  <a:latin typeface="Segoe UI"/>
                </a:rPr>
                <a:t>Aggregate signals into clear </a:t>
              </a:r>
              <a:r>
                <a:rPr sz="1200" b="1" i="0">
                  <a:solidFill>
                    <a:srgbClr val="616161"/>
                  </a:solidFill>
                  <a:latin typeface="Segoe UI Semibold"/>
                </a:rPr>
                <a:t>Bullish / Bearish / Neutral</a:t>
              </a:r>
              <a:r>
                <a:rPr sz="1200" b="0" i="0">
                  <a:solidFill>
                    <a:srgbClr val="616161"/>
                  </a:solidFill>
                  <a:latin typeface="Segoe UI"/>
                </a:rPr>
                <a:t> verdicts</a:t>
              </a: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Solution Architecture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1485900" y="1097280"/>
            <a:ext cx="1828800" cy="82296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X.com API v2</a:t>
            </a:r>
          </a:p>
        </p:txBody>
      </p:sp>
      <p:sp>
        <p:nvSpPr>
          <p:cNvPr id="5" name="Chevron 4"/>
          <p:cNvSpPr/>
          <p:nvPr/>
        </p:nvSpPr>
        <p:spPr>
          <a:xfrm>
            <a:off x="3360420" y="1280160"/>
            <a:ext cx="32004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726180" y="1097280"/>
            <a:ext cx="1828800" cy="822960"/>
          </a:xfrm>
          <a:prstGeom prst="roundRect">
            <a:avLst>
              <a:gd name="adj" fmla="val 6000"/>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Azure AI</a:t>
            </a:r>
          </a:p>
          <a:p>
            <a:pPr algn="ctr"/>
            <a:r>
              <a:rPr sz="1800" b="1" i="0">
                <a:solidFill>
                  <a:srgbClr val="FFFFFF"/>
                </a:solidFill>
                <a:latin typeface="Segoe UI Semibold"/>
              </a:rPr>
              <a:t>Language</a:t>
            </a:r>
          </a:p>
        </p:txBody>
      </p:sp>
      <p:sp>
        <p:nvSpPr>
          <p:cNvPr id="7" name="Chevron 6"/>
          <p:cNvSpPr/>
          <p:nvPr/>
        </p:nvSpPr>
        <p:spPr>
          <a:xfrm>
            <a:off x="5600700" y="1280160"/>
            <a:ext cx="32004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66460" y="1097280"/>
            <a:ext cx="1828800" cy="822960"/>
          </a:xfrm>
          <a:prstGeom prst="roundRect">
            <a:avLst>
              <a:gd name="adj" fmla="val 6000"/>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Aggregation</a:t>
            </a:r>
          </a:p>
          <a:p>
            <a:pPr algn="ctr"/>
            <a:r>
              <a:rPr sz="1800" b="1" i="0">
                <a:solidFill>
                  <a:srgbClr val="FFFFFF"/>
                </a:solidFill>
                <a:latin typeface="Segoe UI Semibold"/>
              </a:rPr>
              <a:t>Engine</a:t>
            </a:r>
          </a:p>
        </p:txBody>
      </p:sp>
      <p:sp>
        <p:nvSpPr>
          <p:cNvPr id="9" name="Chevron 8"/>
          <p:cNvSpPr/>
          <p:nvPr/>
        </p:nvSpPr>
        <p:spPr>
          <a:xfrm>
            <a:off x="7840980" y="1280160"/>
            <a:ext cx="32004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06740" y="1097280"/>
            <a:ext cx="1828800" cy="822960"/>
          </a:xfrm>
          <a:prstGeom prst="roundRect">
            <a:avLst>
              <a:gd name="adj" fmla="val 6000"/>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Chart.js</a:t>
            </a:r>
          </a:p>
          <a:p>
            <a:pPr algn="ctr"/>
            <a:r>
              <a:rPr sz="1800" b="1" i="0">
                <a:solidFill>
                  <a:srgbClr val="FFFFFF"/>
                </a:solidFill>
                <a:latin typeface="Segoe UI Semibold"/>
              </a:rPr>
              <a:t>Dashboard</a:t>
            </a:r>
          </a:p>
        </p:txBody>
      </p:sp>
      <p:sp>
        <p:nvSpPr>
          <p:cNvPr id="11" name="TextBox 10"/>
          <p:cNvSpPr txBox="1"/>
          <p:nvPr/>
        </p:nvSpPr>
        <p:spPr>
          <a:xfrm>
            <a:off x="1485900" y="2194560"/>
            <a:ext cx="1828800" cy="426720"/>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50 tweets</a:t>
            </a:r>
          </a:p>
        </p:txBody>
      </p:sp>
      <p:sp>
        <p:nvSpPr>
          <p:cNvPr id="12" name="TextBox 11"/>
          <p:cNvSpPr txBox="1"/>
          <p:nvPr/>
        </p:nvSpPr>
        <p:spPr>
          <a:xfrm>
            <a:off x="3726180" y="2194560"/>
            <a:ext cx="1828800" cy="426720"/>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5 batches</a:t>
            </a:r>
          </a:p>
        </p:txBody>
      </p:sp>
      <p:sp>
        <p:nvSpPr>
          <p:cNvPr id="13" name="TextBox 12"/>
          <p:cNvSpPr txBox="1"/>
          <p:nvPr/>
        </p:nvSpPr>
        <p:spPr>
          <a:xfrm>
            <a:off x="5966460" y="2194560"/>
            <a:ext cx="1828800" cy="426720"/>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Score &amp; tally</a:t>
            </a:r>
          </a:p>
        </p:txBody>
      </p:sp>
      <p:sp>
        <p:nvSpPr>
          <p:cNvPr id="14" name="TextBox 13"/>
          <p:cNvSpPr txBox="1"/>
          <p:nvPr/>
        </p:nvSpPr>
        <p:spPr>
          <a:xfrm>
            <a:off x="8206740" y="2194560"/>
            <a:ext cx="1828800" cy="426720"/>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Visualize</a:t>
            </a:r>
          </a:p>
        </p:txBody>
      </p:sp>
      <p:grpSp>
        <p:nvGrpSpPr>
          <p:cNvPr id="118" name="Group"/>
          <p:cNvGrpSpPr/>
          <p:nvPr/>
        </p:nvGrpSpPr>
        <p:grpSpPr>
          <a:xfrm>
            <a:off x="731520" y="4023360"/>
            <a:ext cx="10058400" cy="777240"/>
            <a:chOff x="731520" y="4023360"/>
            <a:chExt cx="10058400" cy="777240"/>
          </a:xfrm>
        </p:grpSpPr>
        <p:sp>
          <p:nvSpPr>
            <p:cNvPr id="15" name="Rounded Rectangle 14"/>
            <p:cNvSpPr/>
            <p:nvPr/>
          </p:nvSpPr>
          <p:spPr>
            <a:xfrm>
              <a:off x="731520" y="4023360"/>
              <a:ext cx="10058400" cy="777240"/>
            </a:xfrm>
            <a:prstGeom prst="roundRect">
              <a:avLst>
                <a:gd name="adj" fmla="val 4000"/>
              </a:avLst>
            </a:prstGeom>
            <a:solidFill>
              <a:srgbClr val="2E4A6E"/>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73152" bIns="73152">
              <a:normAutofit/>
            </a:bodyPr>
            <a:lstStyle/>
            <a:p>
              <a:pPr algn="l"/>
              <a:r>
                <a:rPr sz="1400" b="1" i="0">
                  <a:solidFill>
                    <a:srgbClr val="243A5E"/>
                  </a:solidFill>
                  <a:latin typeface="Segoe UI Semibold"/>
                </a:rPr>
                <a:t>50 tweets analyzed in 5 batched API calls — 10× fewer network round trips than individual requests</a:t>
              </a:r>
            </a:p>
          </p:txBody>
        </p:sp>
        <p:sp>
          <p:nvSpPr>
            <p:cNvPr id="16" name="Rectangle 15"/>
            <p:cNvSpPr/>
            <p:nvPr/>
          </p:nvSpPr>
          <p:spPr>
            <a:xfrm>
              <a:off x="731520" y="4023360"/>
              <a:ext cx="6350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Azure Architecture Stack</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731520" y="1097280"/>
            <a:ext cx="10058400" cy="914400"/>
          </a:xfrm>
          <a:prstGeom prst="roundRect">
            <a:avLst>
              <a:gd name="adj" fmla="val 3000"/>
            </a:avLst>
          </a:prstGeom>
          <a:solidFill>
            <a:srgbClr val="0078D4"/>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normAutofit/>
          </a:bodyPr>
          <a:lstStyle/>
          <a:p>
            <a:pPr algn="l"/>
            <a:r>
              <a:rPr sz="1400" b="1" i="0">
                <a:solidFill>
                  <a:srgbClr val="FFFFFF"/>
                </a:solidFill>
                <a:latin typeface="Segoe UI Semibold"/>
              </a:rPr>
              <a:t>Browser — Chart.js Dashboard</a:t>
            </a:r>
          </a:p>
        </p:txBody>
      </p:sp>
      <p:sp>
        <p:nvSpPr>
          <p:cNvPr id="5" name="Rounded Rectangle 4"/>
          <p:cNvSpPr/>
          <p:nvPr/>
        </p:nvSpPr>
        <p:spPr>
          <a:xfrm>
            <a:off x="731520" y="2176272"/>
            <a:ext cx="10058400" cy="914400"/>
          </a:xfrm>
          <a:prstGeom prst="roundRect">
            <a:avLst>
              <a:gd name="adj" fmla="val 3000"/>
            </a:avLst>
          </a:prstGeom>
          <a:solidFill>
            <a:srgbClr val="006CBE"/>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normAutofit/>
          </a:bodyPr>
          <a:lstStyle/>
          <a:p>
            <a:pPr algn="l"/>
            <a:r>
              <a:rPr sz="1400" b="1" i="0">
                <a:solidFill>
                  <a:srgbClr val="FFFFFF"/>
                </a:solidFill>
                <a:latin typeface="Segoe UI Semibold"/>
              </a:rPr>
              <a:t>Node.js Express API (App Service)</a:t>
            </a:r>
          </a:p>
        </p:txBody>
      </p:sp>
      <p:sp>
        <p:nvSpPr>
          <p:cNvPr id="6" name="Rounded Rectangle 5"/>
          <p:cNvSpPr/>
          <p:nvPr/>
        </p:nvSpPr>
        <p:spPr>
          <a:xfrm>
            <a:off x="731520" y="3255264"/>
            <a:ext cx="10058400" cy="914400"/>
          </a:xfrm>
          <a:prstGeom prst="roundRect">
            <a:avLst>
              <a:gd name="adj" fmla="val 3000"/>
            </a:avLst>
          </a:prstGeom>
          <a:solidFill>
            <a:srgbClr val="243A5E"/>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normAutofit/>
          </a:bodyPr>
          <a:lstStyle/>
          <a:p>
            <a:pPr algn="l"/>
            <a:r>
              <a:rPr sz="1400" b="1" i="0">
                <a:solidFill>
                  <a:srgbClr val="FFFFFF"/>
                </a:solidFill>
                <a:latin typeface="Segoe UI Semibold"/>
              </a:rPr>
              <a:t>Azure AI Language (Text Analytics)</a:t>
            </a:r>
          </a:p>
        </p:txBody>
      </p:sp>
      <p:sp>
        <p:nvSpPr>
          <p:cNvPr id="7" name="Rounded Rectangle 6"/>
          <p:cNvSpPr/>
          <p:nvPr/>
        </p:nvSpPr>
        <p:spPr>
          <a:xfrm>
            <a:off x="731520" y="4334256"/>
            <a:ext cx="10058400" cy="914400"/>
          </a:xfrm>
          <a:prstGeom prst="roundRect">
            <a:avLst>
              <a:gd name="adj" fmla="val 3000"/>
            </a:avLst>
          </a:prstGeom>
          <a:solidFill>
            <a:srgbClr val="2E4A6E"/>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normAutofit/>
          </a:bodyPr>
          <a:lstStyle/>
          <a:p>
            <a:pPr algn="l"/>
            <a:r>
              <a:rPr sz="1400" b="1" i="0">
                <a:solidFill>
                  <a:srgbClr val="FFFFFF"/>
                </a:solidFill>
                <a:latin typeface="Segoe UI Semibold"/>
              </a:rPr>
              <a:t>Azure Key Vault + Managed Identity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43A5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097280"/>
            <a:ext cx="4114800" cy="41148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303520"/>
            <a:ext cx="1371600" cy="13716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9144000" cy="1097280"/>
          </a:xfrm>
          <a:prstGeom prst="rect">
            <a:avLst/>
          </a:prstGeom>
          <a:noFill/>
        </p:spPr>
        <p:txBody>
          <a:bodyPr wrap="square">
            <a:normAutofit/>
          </a:bodyPr>
          <a:lstStyle/>
          <a:p>
            <a:pPr algn="l"/>
            <a:r>
              <a:rPr sz="4400" b="0" i="0" spc="50">
                <a:solidFill>
                  <a:srgbClr val="FFFFFF"/>
                </a:solidFill>
                <a:latin typeface="Segoe UI Light"/>
              </a:rPr>
              <a:t>Azure Infrastructure</a:t>
            </a:r>
          </a:p>
        </p:txBody>
      </p:sp>
      <p:sp>
        <p:nvSpPr>
          <p:cNvPr id="6" name="TextBox 5"/>
          <p:cNvSpPr txBox="1"/>
          <p:nvPr/>
        </p:nvSpPr>
        <p:spPr>
          <a:xfrm>
            <a:off x="914400" y="3749039"/>
            <a:ext cx="8229600" cy="731520"/>
          </a:xfrm>
          <a:prstGeom prst="rect">
            <a:avLst/>
          </a:prstGeom>
          <a:noFill/>
        </p:spPr>
        <p:txBody>
          <a:bodyPr wrap="square">
            <a:spAutoFit/>
          </a:bodyPr>
          <a:lstStyle/>
          <a:p>
            <a:pPr algn="l"/>
            <a:r>
              <a:rPr sz="1800" b="0" i="0">
                <a:solidFill>
                  <a:srgbClr val="CCE4FF"/>
                </a:solidFill>
                <a:latin typeface="Segoe UI"/>
              </a:rPr>
              <a:t>Secure, modular, and environment-aware with Bicep</a:t>
            </a:r>
          </a:p>
        </p:txBody>
      </p:sp>
      <p:pic>
        <p:nvPicPr>
          <p:cNvPr id="7" name="Picture 6" descr="microsoft.png"/>
          <p:cNvPicPr>
            <a:picLocks noChangeAspect="1"/>
          </p:cNvPicPr>
          <p:nvPr/>
        </p:nvPicPr>
        <p:blipFill>
          <a:blip r:embed="rId2"/>
          <a:stretch>
            <a:fillRect/>
          </a:stretch>
        </p:blipFill>
        <p:spPr>
          <a:xfrm>
            <a:off x="10454335" y="6217920"/>
            <a:ext cx="1371600" cy="29289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Modular Bicep Architecture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731520" y="1097280"/>
            <a:ext cx="3200400" cy="3291840"/>
          </a:xfrm>
          <a:prstGeom prst="roundRect">
            <a:avLst>
              <a:gd name="adj" fmla="val 5000"/>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170432"/>
            <a:ext cx="3200400" cy="3218688"/>
          </a:xfrm>
          <a:prstGeom prst="roundRect">
            <a:avLst>
              <a:gd name="adj" fmla="val 5000"/>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65960" y="1327708"/>
            <a:ext cx="731520" cy="7315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2300" b="1" i="0">
                <a:solidFill>
                  <a:srgbClr val="FFFFFF"/>
                </a:solidFill>
                <a:latin typeface="Segoe UI Semibold"/>
              </a:rPr>
              <a:t>01</a:t>
            </a:r>
          </a:p>
        </p:txBody>
      </p:sp>
      <p:sp>
        <p:nvSpPr>
          <p:cNvPr id="7" name="TextBox 6"/>
          <p:cNvSpPr txBox="1"/>
          <p:nvPr/>
        </p:nvSpPr>
        <p:spPr>
          <a:xfrm>
            <a:off x="822960" y="2084832"/>
            <a:ext cx="3017520" cy="592531"/>
          </a:xfrm>
          <a:prstGeom prst="rect">
            <a:avLst/>
          </a:prstGeom>
          <a:noFill/>
        </p:spPr>
        <p:txBody>
          <a:bodyPr wrap="square">
            <a:normAutofit/>
          </a:bodyPr>
          <a:lstStyle/>
          <a:p>
            <a:pPr algn="ctr"/>
            <a:r>
              <a:rPr sz="1500" b="1" i="0">
                <a:solidFill>
                  <a:srgbClr val="243A5E"/>
                </a:solidFill>
                <a:latin typeface="Segoe UI Semibold"/>
              </a:rPr>
              <a:t>Azure AI Language</a:t>
            </a:r>
          </a:p>
        </p:txBody>
      </p:sp>
      <p:sp>
        <p:nvSpPr>
          <p:cNvPr id="8" name="TextBox 7"/>
          <p:cNvSpPr txBox="1"/>
          <p:nvPr/>
        </p:nvSpPr>
        <p:spPr>
          <a:xfrm>
            <a:off x="822960" y="2809036"/>
            <a:ext cx="3017520" cy="1448409"/>
          </a:xfrm>
          <a:prstGeom prst="rect">
            <a:avLst/>
          </a:prstGeom>
          <a:noFill/>
        </p:spPr>
        <p:txBody>
          <a:bodyPr wrap="square">
            <a:normAutofit/>
          </a:bodyPr>
          <a:lstStyle/>
          <a:p>
            <a:pPr algn="ctr"/>
            <a:r>
              <a:rPr sz="1100" b="1" i="0">
                <a:solidFill>
                  <a:srgbClr val="616161"/>
                </a:solidFill>
                <a:latin typeface="Segoe UI Semibold"/>
              </a:rPr>
              <a:t>Text Analytics</a:t>
            </a:r>
            <a:r>
              <a:rPr sz="1100" b="0" i="0">
                <a:solidFill>
                  <a:srgbClr val="616161"/>
                </a:solidFill>
                <a:latin typeface="Segoe UI"/>
              </a:rPr>
              <a:t> for sentiment analysis.
F0 free tier for dev, S tier for production.
Custom subdomain with public access.</a:t>
            </a:r>
          </a:p>
        </p:txBody>
      </p:sp>
      <p:sp>
        <p:nvSpPr>
          <p:cNvPr id="9" name="Rounded Rectangle 8"/>
          <p:cNvSpPr/>
          <p:nvPr/>
        </p:nvSpPr>
        <p:spPr>
          <a:xfrm>
            <a:off x="4160520" y="1097280"/>
            <a:ext cx="3200400" cy="3291840"/>
          </a:xfrm>
          <a:prstGeom prst="roundRect">
            <a:avLst>
              <a:gd name="adj" fmla="val 5000"/>
            </a:avLst>
          </a:prstGeom>
          <a:solidFill>
            <a:srgbClr val="006CBE"/>
          </a:solidFill>
          <a:ln w="12700">
            <a:solidFill>
              <a:srgbClr val="006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60520" y="1170432"/>
            <a:ext cx="3200400" cy="3218688"/>
          </a:xfrm>
          <a:prstGeom prst="roundRect">
            <a:avLst>
              <a:gd name="adj" fmla="val 5000"/>
            </a:avLst>
          </a:prstGeom>
          <a:solidFill>
            <a:srgbClr val="FFFFFF"/>
          </a:solidFill>
          <a:ln w="12700">
            <a:solidFill>
              <a:srgbClr val="006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394960" y="1327708"/>
            <a:ext cx="731520" cy="731520"/>
          </a:xfrm>
          <a:prstGeom prst="ellipse">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2300" b="1" i="0">
                <a:solidFill>
                  <a:srgbClr val="FFFFFF"/>
                </a:solidFill>
                <a:latin typeface="Segoe UI Semibold"/>
              </a:rPr>
              <a:t>02</a:t>
            </a:r>
          </a:p>
        </p:txBody>
      </p:sp>
      <p:sp>
        <p:nvSpPr>
          <p:cNvPr id="12" name="TextBox 11"/>
          <p:cNvSpPr txBox="1"/>
          <p:nvPr/>
        </p:nvSpPr>
        <p:spPr>
          <a:xfrm>
            <a:off x="4251960" y="2084832"/>
            <a:ext cx="3017520" cy="592531"/>
          </a:xfrm>
          <a:prstGeom prst="rect">
            <a:avLst/>
          </a:prstGeom>
          <a:noFill/>
        </p:spPr>
        <p:txBody>
          <a:bodyPr wrap="square">
            <a:normAutofit/>
          </a:bodyPr>
          <a:lstStyle/>
          <a:p>
            <a:pPr algn="ctr"/>
            <a:r>
              <a:rPr sz="1500" b="1" i="0">
                <a:solidFill>
                  <a:srgbClr val="243A5E"/>
                </a:solidFill>
                <a:latin typeface="Segoe UI Semibold"/>
              </a:rPr>
              <a:t>App Service</a:t>
            </a:r>
          </a:p>
        </p:txBody>
      </p:sp>
      <p:sp>
        <p:nvSpPr>
          <p:cNvPr id="13" name="TextBox 12"/>
          <p:cNvSpPr txBox="1"/>
          <p:nvPr/>
        </p:nvSpPr>
        <p:spPr>
          <a:xfrm>
            <a:off x="4251960" y="2809036"/>
            <a:ext cx="3017520" cy="1448409"/>
          </a:xfrm>
          <a:prstGeom prst="rect">
            <a:avLst/>
          </a:prstGeom>
          <a:noFill/>
        </p:spPr>
        <p:txBody>
          <a:bodyPr wrap="square">
            <a:normAutofit/>
          </a:bodyPr>
          <a:lstStyle/>
          <a:p>
            <a:pPr algn="ctr"/>
            <a:r>
              <a:rPr sz="1100" b="1" i="0">
                <a:solidFill>
                  <a:srgbClr val="616161"/>
                </a:solidFill>
                <a:latin typeface="Segoe UI Semibold"/>
              </a:rPr>
              <a:t>Linux Node.js 18 LTS</a:t>
            </a:r>
            <a:r>
              <a:rPr sz="1100" b="0" i="0">
                <a:solidFill>
                  <a:srgbClr val="616161"/>
                </a:solidFill>
                <a:latin typeface="Segoe UI"/>
              </a:rPr>
              <a:t> hosting.
System-assigned </a:t>
            </a:r>
            <a:r>
              <a:rPr sz="1100" b="1" i="0">
                <a:solidFill>
                  <a:srgbClr val="616161"/>
                </a:solidFill>
                <a:latin typeface="Segoe UI Semibold"/>
              </a:rPr>
              <a:t>managed identity</a:t>
            </a:r>
            <a:r>
              <a:rPr sz="1100" b="0" i="0">
                <a:solidFill>
                  <a:srgbClr val="616161"/>
                </a:solidFill>
                <a:latin typeface="Segoe UI"/>
              </a:rPr>
              <a:t>.
HTTPS-only, TLS 1.2, FTPS disabled.</a:t>
            </a:r>
          </a:p>
        </p:txBody>
      </p:sp>
      <p:sp>
        <p:nvSpPr>
          <p:cNvPr id="14" name="Rounded Rectangle 13"/>
          <p:cNvSpPr/>
          <p:nvPr/>
        </p:nvSpPr>
        <p:spPr>
          <a:xfrm>
            <a:off x="7589520" y="1097280"/>
            <a:ext cx="3200400" cy="3291840"/>
          </a:xfrm>
          <a:prstGeom prst="roundRect">
            <a:avLst>
              <a:gd name="adj" fmla="val 5000"/>
            </a:avLst>
          </a:prstGeom>
          <a:solidFill>
            <a:srgbClr val="243A5E"/>
          </a:solidFill>
          <a:ln w="12700">
            <a:solidFill>
              <a:srgbClr val="24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89520" y="1170432"/>
            <a:ext cx="3200400" cy="3218688"/>
          </a:xfrm>
          <a:prstGeom prst="roundRect">
            <a:avLst>
              <a:gd name="adj" fmla="val 5000"/>
            </a:avLst>
          </a:prstGeom>
          <a:solidFill>
            <a:srgbClr val="FFFFFF"/>
          </a:solidFill>
          <a:ln w="12700">
            <a:solidFill>
              <a:srgbClr val="24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23960" y="1327708"/>
            <a:ext cx="731520" cy="73152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2300" b="1" i="0">
                <a:solidFill>
                  <a:srgbClr val="FFFFFF"/>
                </a:solidFill>
                <a:latin typeface="Segoe UI Semibold"/>
              </a:rPr>
              <a:t>03</a:t>
            </a:r>
          </a:p>
        </p:txBody>
      </p:sp>
      <p:sp>
        <p:nvSpPr>
          <p:cNvPr id="17" name="TextBox 16"/>
          <p:cNvSpPr txBox="1"/>
          <p:nvPr/>
        </p:nvSpPr>
        <p:spPr>
          <a:xfrm>
            <a:off x="7680960" y="2084832"/>
            <a:ext cx="3017520" cy="592531"/>
          </a:xfrm>
          <a:prstGeom prst="rect">
            <a:avLst/>
          </a:prstGeom>
          <a:noFill/>
        </p:spPr>
        <p:txBody>
          <a:bodyPr wrap="square">
            <a:normAutofit/>
          </a:bodyPr>
          <a:lstStyle/>
          <a:p>
            <a:pPr algn="ctr"/>
            <a:r>
              <a:rPr sz="1500" b="1" i="0">
                <a:solidFill>
                  <a:srgbClr val="243A5E"/>
                </a:solidFill>
                <a:latin typeface="Segoe UI Semibold"/>
              </a:rPr>
              <a:t>Key Vault</a:t>
            </a:r>
          </a:p>
        </p:txBody>
      </p:sp>
      <p:sp>
        <p:nvSpPr>
          <p:cNvPr id="18" name="TextBox 17"/>
          <p:cNvSpPr txBox="1"/>
          <p:nvPr/>
        </p:nvSpPr>
        <p:spPr>
          <a:xfrm>
            <a:off x="7680960" y="2809036"/>
            <a:ext cx="3017520" cy="1448409"/>
          </a:xfrm>
          <a:prstGeom prst="rect">
            <a:avLst/>
          </a:prstGeom>
          <a:noFill/>
        </p:spPr>
        <p:txBody>
          <a:bodyPr wrap="square">
            <a:normAutofit/>
          </a:bodyPr>
          <a:lstStyle/>
          <a:p>
            <a:pPr algn="ctr"/>
            <a:r>
              <a:rPr sz="1100" b="1" i="0">
                <a:solidFill>
                  <a:srgbClr val="616161"/>
                </a:solidFill>
                <a:latin typeface="Segoe UI Semibold"/>
              </a:rPr>
              <a:t>RBAC authorization</a:t>
            </a:r>
            <a:r>
              <a:rPr sz="1100" b="0" i="0">
                <a:solidFill>
                  <a:srgbClr val="616161"/>
                </a:solidFill>
                <a:latin typeface="Segoe UI"/>
              </a:rPr>
              <a:t> with least privilege.
Key Vault Secrets User role.
Soft-delete + purge protection enabled.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Zero-Secret Application Configuration</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731520" y="1097280"/>
            <a:ext cx="10058400" cy="1051560"/>
          </a:xfrm>
          <a:prstGeom prst="roundRect">
            <a:avLst>
              <a:gd name="adj" fmla="val 5000"/>
            </a:avLst>
          </a:prstGeom>
          <a:solidFill>
            <a:srgbClr val="F2F2F2"/>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63500" cy="10515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261872"/>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1</a:t>
            </a:r>
          </a:p>
        </p:txBody>
      </p:sp>
      <p:sp>
        <p:nvSpPr>
          <p:cNvPr id="7" name="TextBox 6"/>
          <p:cNvSpPr txBox="1"/>
          <p:nvPr/>
        </p:nvSpPr>
        <p:spPr>
          <a:xfrm>
            <a:off x="1554480" y="1185062"/>
            <a:ext cx="9052560" cy="493776"/>
          </a:xfrm>
          <a:prstGeom prst="rect">
            <a:avLst/>
          </a:prstGeom>
          <a:noFill/>
        </p:spPr>
        <p:txBody>
          <a:bodyPr wrap="square">
            <a:normAutofit/>
          </a:bodyPr>
          <a:lstStyle/>
          <a:p>
            <a:pPr algn="l"/>
            <a:r>
              <a:rPr sz="1400" b="1" i="0">
                <a:solidFill>
                  <a:srgbClr val="243A5E"/>
                </a:solidFill>
                <a:latin typeface="Segoe UI Semibold"/>
              </a:rPr>
              <a:t>Managed Identity</a:t>
            </a:r>
          </a:p>
        </p:txBody>
      </p:sp>
      <p:sp>
        <p:nvSpPr>
          <p:cNvPr id="8" name="TextBox 7"/>
          <p:cNvSpPr txBox="1"/>
          <p:nvPr/>
        </p:nvSpPr>
        <p:spPr>
          <a:xfrm>
            <a:off x="1554480" y="1667865"/>
            <a:ext cx="9052560" cy="482803"/>
          </a:xfrm>
          <a:prstGeom prst="rect">
            <a:avLst/>
          </a:prstGeom>
          <a:noFill/>
        </p:spPr>
        <p:txBody>
          <a:bodyPr wrap="square">
            <a:normAutofit/>
          </a:bodyPr>
          <a:lstStyle/>
          <a:p>
            <a:pPr algn="l"/>
            <a:r>
              <a:rPr sz="1200" b="0" i="0">
                <a:solidFill>
                  <a:srgbClr val="616161"/>
                </a:solidFill>
                <a:latin typeface="Segoe UI"/>
              </a:rPr>
              <a:t>App Service uses </a:t>
            </a:r>
            <a:r>
              <a:rPr sz="1200" b="1" i="0">
                <a:solidFill>
                  <a:srgbClr val="616161"/>
                </a:solidFill>
                <a:latin typeface="Segoe UI Semibold"/>
              </a:rPr>
              <a:t>system-assigned identity</a:t>
            </a:r>
            <a:r>
              <a:rPr sz="1200" b="0" i="0">
                <a:solidFill>
                  <a:srgbClr val="616161"/>
                </a:solidFill>
                <a:latin typeface="Segoe UI"/>
              </a:rPr>
              <a:t> — no passwords or connection strings to manage or rotate</a:t>
            </a:r>
          </a:p>
        </p:txBody>
      </p:sp>
      <p:sp>
        <p:nvSpPr>
          <p:cNvPr id="9" name="Rounded Rectangle 8"/>
          <p:cNvSpPr/>
          <p:nvPr/>
        </p:nvSpPr>
        <p:spPr>
          <a:xfrm>
            <a:off x="731520" y="2194560"/>
            <a:ext cx="10058400" cy="1051560"/>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94560"/>
            <a:ext cx="63500" cy="1051560"/>
          </a:xfrm>
          <a:prstGeom prst="rect">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2359152"/>
            <a:ext cx="457200" cy="457200"/>
          </a:xfrm>
          <a:prstGeom prst="ellipse">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2</a:t>
            </a:r>
          </a:p>
        </p:txBody>
      </p:sp>
      <p:sp>
        <p:nvSpPr>
          <p:cNvPr id="12" name="TextBox 11"/>
          <p:cNvSpPr txBox="1"/>
          <p:nvPr/>
        </p:nvSpPr>
        <p:spPr>
          <a:xfrm>
            <a:off x="1554480" y="2282342"/>
            <a:ext cx="9052560" cy="493776"/>
          </a:xfrm>
          <a:prstGeom prst="rect">
            <a:avLst/>
          </a:prstGeom>
          <a:noFill/>
        </p:spPr>
        <p:txBody>
          <a:bodyPr wrap="square">
            <a:normAutofit/>
          </a:bodyPr>
          <a:lstStyle/>
          <a:p>
            <a:pPr algn="l"/>
            <a:r>
              <a:rPr sz="1400" b="1" i="0">
                <a:solidFill>
                  <a:srgbClr val="243A5E"/>
                </a:solidFill>
                <a:latin typeface="Segoe UI Semibold"/>
              </a:rPr>
              <a:t>RBAC Least Privilege</a:t>
            </a:r>
          </a:p>
        </p:txBody>
      </p:sp>
      <p:sp>
        <p:nvSpPr>
          <p:cNvPr id="13" name="TextBox 12"/>
          <p:cNvSpPr txBox="1"/>
          <p:nvPr/>
        </p:nvSpPr>
        <p:spPr>
          <a:xfrm>
            <a:off x="1554480" y="2765145"/>
            <a:ext cx="9052560" cy="482803"/>
          </a:xfrm>
          <a:prstGeom prst="rect">
            <a:avLst/>
          </a:prstGeom>
          <a:noFill/>
        </p:spPr>
        <p:txBody>
          <a:bodyPr wrap="square">
            <a:normAutofit/>
          </a:bodyPr>
          <a:lstStyle/>
          <a:p>
            <a:pPr algn="l"/>
            <a:r>
              <a:rPr sz="1200" b="0" i="0">
                <a:solidFill>
                  <a:srgbClr val="616161"/>
                </a:solidFill>
                <a:latin typeface="Segoe UI"/>
              </a:rPr>
              <a:t>Key Vault Secrets User role grants </a:t>
            </a:r>
            <a:r>
              <a:rPr sz="1200" b="1" i="0">
                <a:solidFill>
                  <a:srgbClr val="616161"/>
                </a:solidFill>
                <a:latin typeface="Segoe UI Semibold"/>
              </a:rPr>
              <a:t>read-only secret access</a:t>
            </a:r>
            <a:r>
              <a:rPr sz="1200" b="0" i="0">
                <a:solidFill>
                  <a:srgbClr val="616161"/>
                </a:solidFill>
                <a:latin typeface="Segoe UI"/>
              </a:rPr>
              <a:t> — the minimum permission needed</a:t>
            </a:r>
          </a:p>
        </p:txBody>
      </p:sp>
      <p:sp>
        <p:nvSpPr>
          <p:cNvPr id="14" name="Rounded Rectangle 13"/>
          <p:cNvSpPr/>
          <p:nvPr/>
        </p:nvSpPr>
        <p:spPr>
          <a:xfrm>
            <a:off x="731520" y="3291840"/>
            <a:ext cx="10058400" cy="1051560"/>
          </a:xfrm>
          <a:prstGeom prst="roundRect">
            <a:avLst>
              <a:gd name="adj" fmla="val 5000"/>
            </a:avLst>
          </a:prstGeom>
          <a:solidFill>
            <a:srgbClr val="F2F2F2"/>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291840"/>
            <a:ext cx="63500" cy="105156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3456432"/>
            <a:ext cx="457200" cy="4572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3</a:t>
            </a:r>
          </a:p>
        </p:txBody>
      </p:sp>
      <p:sp>
        <p:nvSpPr>
          <p:cNvPr id="17" name="TextBox 16"/>
          <p:cNvSpPr txBox="1"/>
          <p:nvPr/>
        </p:nvSpPr>
        <p:spPr>
          <a:xfrm>
            <a:off x="1554480" y="3379622"/>
            <a:ext cx="9052560" cy="493776"/>
          </a:xfrm>
          <a:prstGeom prst="rect">
            <a:avLst/>
          </a:prstGeom>
          <a:noFill/>
        </p:spPr>
        <p:txBody>
          <a:bodyPr wrap="square">
            <a:normAutofit/>
          </a:bodyPr>
          <a:lstStyle/>
          <a:p>
            <a:pPr algn="l"/>
            <a:r>
              <a:rPr sz="1400" b="1" i="0">
                <a:solidFill>
                  <a:srgbClr val="243A5E"/>
                </a:solidFill>
                <a:latin typeface="Segoe UI Semibold"/>
              </a:rPr>
              <a:t>No Secrets in Config</a:t>
            </a:r>
          </a:p>
        </p:txBody>
      </p:sp>
      <p:sp>
        <p:nvSpPr>
          <p:cNvPr id="18" name="TextBox 17"/>
          <p:cNvSpPr txBox="1"/>
          <p:nvPr/>
        </p:nvSpPr>
        <p:spPr>
          <a:xfrm>
            <a:off x="1554480" y="3862425"/>
            <a:ext cx="9052560" cy="482803"/>
          </a:xfrm>
          <a:prstGeom prst="rect">
            <a:avLst/>
          </a:prstGeom>
          <a:noFill/>
        </p:spPr>
        <p:txBody>
          <a:bodyPr wrap="square">
            <a:normAutofit/>
          </a:bodyPr>
          <a:lstStyle/>
          <a:p>
            <a:pPr algn="l"/>
            <a:r>
              <a:rPr sz="1200" b="0" i="0">
                <a:solidFill>
                  <a:srgbClr val="616161"/>
                </a:solidFill>
                <a:latin typeface="Segoe UI"/>
              </a:rPr>
              <a:t>App settings contain only </a:t>
            </a:r>
            <a:r>
              <a:rPr sz="1200" b="1" i="0">
                <a:solidFill>
                  <a:srgbClr val="616161"/>
                </a:solidFill>
                <a:latin typeface="Segoe UI Semibold"/>
              </a:rPr>
              <a:t>endpoint URLs</a:t>
            </a:r>
            <a:r>
              <a:rPr sz="1200" b="0" i="0">
                <a:solidFill>
                  <a:srgbClr val="616161"/>
                </a:solidFill>
                <a:latin typeface="Segoe UI"/>
              </a:rPr>
              <a:t> and </a:t>
            </a:r>
            <a:r>
              <a:rPr sz="1200" b="1" i="0">
                <a:solidFill>
                  <a:srgbClr val="616161"/>
                </a:solidFill>
                <a:latin typeface="Segoe UI Semibold"/>
              </a:rPr>
              <a:t>Key Vault URI</a:t>
            </a:r>
            <a:r>
              <a:rPr sz="1200" b="0" i="0">
                <a:solidFill>
                  <a:srgbClr val="616161"/>
                </a:solidFill>
                <a:latin typeface="Segoe UI"/>
              </a:rPr>
              <a:t> — actual keys live in Key Vault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Environment Configuration</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graphicFrame>
        <p:nvGraphicFramePr>
          <p:cNvPr id="4" name="Table 3"/>
          <p:cNvGraphicFramePr>
            <a:graphicFrameLocks noGrp="1"/>
          </p:cNvGraphicFramePr>
          <p:nvPr/>
        </p:nvGraphicFramePr>
        <p:xfrm>
          <a:off x="731520" y="1097280"/>
          <a:ext cx="7863840" cy="1737360"/>
        </p:xfrm>
        <a:graphic>
          <a:graphicData uri="http://schemas.openxmlformats.org/drawingml/2006/table">
            <a:tbl>
              <a:tblPr firstRow="1" bandRow="1">
                <a:tableStyleId>{5C22544A-7EE6-4342-B048-85BDC9FD1C3A}</a:tableStyleId>
              </a:tblPr>
              <a:tblGrid>
                <a:gridCol w="1828800"/>
                <a:gridCol w="2011680"/>
                <a:gridCol w="2011680"/>
                <a:gridCol w="2011680"/>
              </a:tblGrid>
              <a:tr h="347472">
                <a:tc>
                  <a:txBody>
                    <a:bodyPr/>
                    <a:lstStyle/>
                    <a:p>
                      <a:pPr algn="l"/>
                      <a:r>
                        <a:rPr sz="1200" b="1">
                          <a:solidFill>
                            <a:srgbClr val="FFFFFF"/>
                          </a:solidFill>
                          <a:latin typeface="Segoe UI"/>
                        </a:rPr>
                        <a:t>Setting</a:t>
                      </a:r>
                    </a:p>
                  </a:txBody>
                  <a:tcPr marL="73152" marR="73152" marT="36576" marB="36576">
                    <a:solidFill>
                      <a:srgbClr val="0078D4"/>
                    </a:solidFill>
                  </a:tcPr>
                </a:tc>
                <a:tc>
                  <a:txBody>
                    <a:bodyPr/>
                    <a:lstStyle/>
                    <a:p>
                      <a:pPr algn="l"/>
                      <a:r>
                        <a:rPr sz="1200" b="1">
                          <a:solidFill>
                            <a:srgbClr val="FFFFFF"/>
                          </a:solidFill>
                          <a:latin typeface="Segoe UI"/>
                        </a:rPr>
                        <a:t>Dev</a:t>
                      </a:r>
                    </a:p>
                  </a:txBody>
                  <a:tcPr marL="73152" marR="73152" marT="36576" marB="36576">
                    <a:solidFill>
                      <a:srgbClr val="0078D4"/>
                    </a:solidFill>
                  </a:tcPr>
                </a:tc>
                <a:tc>
                  <a:txBody>
                    <a:bodyPr/>
                    <a:lstStyle/>
                    <a:p>
                      <a:pPr algn="l"/>
                      <a:r>
                        <a:rPr sz="1200" b="1">
                          <a:solidFill>
                            <a:srgbClr val="FFFFFF"/>
                          </a:solidFill>
                          <a:latin typeface="Segoe UI"/>
                        </a:rPr>
                        <a:t>Staging</a:t>
                      </a:r>
                    </a:p>
                  </a:txBody>
                  <a:tcPr marL="73152" marR="73152" marT="36576" marB="36576">
                    <a:solidFill>
                      <a:srgbClr val="0078D4"/>
                    </a:solidFill>
                  </a:tcPr>
                </a:tc>
                <a:tc>
                  <a:txBody>
                    <a:bodyPr/>
                    <a:lstStyle/>
                    <a:p>
                      <a:pPr algn="l"/>
                      <a:r>
                        <a:rPr sz="1200" b="1">
                          <a:solidFill>
                            <a:srgbClr val="FFFFFF"/>
                          </a:solidFill>
                          <a:latin typeface="Segoe UI"/>
                        </a:rPr>
                        <a:t>Prod</a:t>
                      </a:r>
                    </a:p>
                  </a:txBody>
                  <a:tcPr marL="73152" marR="73152" marT="36576" marB="36576">
                    <a:solidFill>
                      <a:srgbClr val="0078D4"/>
                    </a:solidFill>
                  </a:tcPr>
                </a:tc>
              </a:tr>
              <a:tr h="347472">
                <a:tc>
                  <a:txBody>
                    <a:bodyPr/>
                    <a:lstStyle/>
                    <a:p>
                      <a:pPr algn="l"/>
                      <a:r>
                        <a:rPr sz="1100" b="0" i="0">
                          <a:solidFill>
                            <a:srgbClr val="212121"/>
                          </a:solidFill>
                          <a:latin typeface="Segoe UI"/>
                        </a:rPr>
                        <a:t>App Service SKU</a:t>
                      </a:r>
                    </a:p>
                  </a:txBody>
                  <a:tcPr marL="73152" marR="73152" marT="36576" marB="36576">
                    <a:solidFill>
                      <a:srgbClr val="FFFFFF"/>
                    </a:solidFill>
                  </a:tcPr>
                </a:tc>
                <a:tc>
                  <a:txBody>
                    <a:bodyPr/>
                    <a:lstStyle/>
                    <a:p>
                      <a:pPr algn="l"/>
                      <a:r>
                        <a:rPr sz="1100" b="0" i="0">
                          <a:solidFill>
                            <a:srgbClr val="212121"/>
                          </a:solidFill>
                          <a:latin typeface="Segoe UI"/>
                        </a:rPr>
                        <a:t>B1 (Basic)</a:t>
                      </a:r>
                    </a:p>
                  </a:txBody>
                  <a:tcPr marL="73152" marR="73152" marT="36576" marB="36576">
                    <a:solidFill>
                      <a:srgbClr val="FFFFFF"/>
                    </a:solidFill>
                  </a:tcPr>
                </a:tc>
                <a:tc>
                  <a:txBody>
                    <a:bodyPr/>
                    <a:lstStyle/>
                    <a:p>
                      <a:pPr algn="l"/>
                      <a:r>
                        <a:rPr sz="1100" b="0" i="0">
                          <a:solidFill>
                            <a:srgbClr val="212121"/>
                          </a:solidFill>
                          <a:latin typeface="Segoe UI"/>
                        </a:rPr>
                        <a:t>F1 (Free)</a:t>
                      </a:r>
                    </a:p>
                  </a:txBody>
                  <a:tcPr marL="73152" marR="73152" marT="36576" marB="36576">
                    <a:solidFill>
                      <a:srgbClr val="FFFFFF"/>
                    </a:solidFill>
                  </a:tcPr>
                </a:tc>
                <a:tc>
                  <a:txBody>
                    <a:bodyPr/>
                    <a:lstStyle/>
                    <a:p>
                      <a:pPr algn="l"/>
                      <a:r>
                        <a:rPr sz="1100" b="0" i="0">
                          <a:solidFill>
                            <a:srgbClr val="212121"/>
                          </a:solidFill>
                          <a:latin typeface="Segoe UI"/>
                        </a:rPr>
                        <a:t>P1v3 (Premium)</a:t>
                      </a:r>
                    </a:p>
                  </a:txBody>
                  <a:tcPr marL="73152" marR="73152" marT="36576" marB="36576">
                    <a:solidFill>
                      <a:srgbClr val="FFFFFF"/>
                    </a:solidFill>
                  </a:tcPr>
                </a:tc>
              </a:tr>
              <a:tr h="347472">
                <a:tc>
                  <a:txBody>
                    <a:bodyPr/>
                    <a:lstStyle/>
                    <a:p>
                      <a:pPr algn="l"/>
                      <a:r>
                        <a:rPr sz="1100" b="0" i="0">
                          <a:solidFill>
                            <a:srgbClr val="212121"/>
                          </a:solidFill>
                          <a:latin typeface="Segoe UI"/>
                        </a:rPr>
                        <a:t>AI Language SKU</a:t>
                      </a:r>
                    </a:p>
                  </a:txBody>
                  <a:tcPr marL="73152" marR="73152" marT="36576" marB="36576">
                    <a:solidFill>
                      <a:srgbClr val="EFF6FC"/>
                    </a:solidFill>
                  </a:tcPr>
                </a:tc>
                <a:tc>
                  <a:txBody>
                    <a:bodyPr/>
                    <a:lstStyle/>
                    <a:p>
                      <a:pPr algn="l"/>
                      <a:r>
                        <a:rPr sz="1100" b="0" i="0">
                          <a:solidFill>
                            <a:srgbClr val="212121"/>
                          </a:solidFill>
                          <a:latin typeface="Segoe UI"/>
                        </a:rPr>
                        <a:t>F0 (Free)</a:t>
                      </a:r>
                    </a:p>
                  </a:txBody>
                  <a:tcPr marL="73152" marR="73152" marT="36576" marB="36576">
                    <a:solidFill>
                      <a:srgbClr val="EFF6FC"/>
                    </a:solidFill>
                  </a:tcPr>
                </a:tc>
                <a:tc>
                  <a:txBody>
                    <a:bodyPr/>
                    <a:lstStyle/>
                    <a:p>
                      <a:pPr algn="l"/>
                      <a:r>
                        <a:rPr sz="1100" b="0" i="0">
                          <a:solidFill>
                            <a:srgbClr val="212121"/>
                          </a:solidFill>
                          <a:latin typeface="Segoe UI"/>
                        </a:rPr>
                        <a:t>F0 (Free)</a:t>
                      </a:r>
                    </a:p>
                  </a:txBody>
                  <a:tcPr marL="73152" marR="73152" marT="36576" marB="36576">
                    <a:solidFill>
                      <a:srgbClr val="EFF6FC"/>
                    </a:solidFill>
                  </a:tcPr>
                </a:tc>
                <a:tc>
                  <a:txBody>
                    <a:bodyPr/>
                    <a:lstStyle/>
                    <a:p>
                      <a:pPr algn="l"/>
                      <a:r>
                        <a:rPr sz="1100" b="0" i="0">
                          <a:solidFill>
                            <a:srgbClr val="212121"/>
                          </a:solidFill>
                          <a:latin typeface="Segoe UI"/>
                        </a:rPr>
                        <a:t>S (Standard)</a:t>
                      </a:r>
                    </a:p>
                  </a:txBody>
                  <a:tcPr marL="73152" marR="73152" marT="36576" marB="36576">
                    <a:solidFill>
                      <a:srgbClr val="EFF6FC"/>
                    </a:solidFill>
                  </a:tcPr>
                </a:tc>
              </a:tr>
              <a:tr h="347472">
                <a:tc>
                  <a:txBody>
                    <a:bodyPr/>
                    <a:lstStyle/>
                    <a:p>
                      <a:pPr algn="l"/>
                      <a:r>
                        <a:rPr sz="1100" b="0" i="0">
                          <a:solidFill>
                            <a:srgbClr val="212121"/>
                          </a:solidFill>
                          <a:latin typeface="Segoe UI"/>
                        </a:rPr>
                        <a:t>Always On</a:t>
                      </a:r>
                    </a:p>
                  </a:txBody>
                  <a:tcPr marL="73152" marR="73152" marT="36576" marB="36576">
                    <a:solidFill>
                      <a:srgbClr val="FFFFFF"/>
                    </a:solidFill>
                  </a:tcPr>
                </a:tc>
                <a:tc>
                  <a:txBody>
                    <a:bodyPr/>
                    <a:lstStyle/>
                    <a:p>
                      <a:pPr algn="l"/>
                      <a:r>
                        <a:rPr sz="1100" b="0" i="0">
                          <a:solidFill>
                            <a:srgbClr val="212121"/>
                          </a:solidFill>
                          <a:latin typeface="Segoe UI"/>
                        </a:rPr>
                        <a:t>Yes</a:t>
                      </a:r>
                    </a:p>
                  </a:txBody>
                  <a:tcPr marL="73152" marR="73152" marT="36576" marB="36576">
                    <a:solidFill>
                      <a:srgbClr val="FFFFFF"/>
                    </a:solidFill>
                  </a:tcPr>
                </a:tc>
                <a:tc>
                  <a:txBody>
                    <a:bodyPr/>
                    <a:lstStyle/>
                    <a:p>
                      <a:pPr algn="l"/>
                      <a:r>
                        <a:rPr sz="1100" b="0" i="0">
                          <a:solidFill>
                            <a:srgbClr val="212121"/>
                          </a:solidFill>
                          <a:latin typeface="Segoe UI"/>
                        </a:rPr>
                        <a:t>No</a:t>
                      </a:r>
                    </a:p>
                  </a:txBody>
                  <a:tcPr marL="73152" marR="73152" marT="36576" marB="36576">
                    <a:solidFill>
                      <a:srgbClr val="FFFFFF"/>
                    </a:solidFill>
                  </a:tcPr>
                </a:tc>
                <a:tc>
                  <a:txBody>
                    <a:bodyPr/>
                    <a:lstStyle/>
                    <a:p>
                      <a:pPr algn="l"/>
                      <a:r>
                        <a:rPr sz="1100" b="0" i="0">
                          <a:solidFill>
                            <a:srgbClr val="212121"/>
                          </a:solidFill>
                          <a:latin typeface="Segoe UI"/>
                        </a:rPr>
                        <a:t>Yes</a:t>
                      </a:r>
                    </a:p>
                  </a:txBody>
                  <a:tcPr marL="73152" marR="73152" marT="36576" marB="36576">
                    <a:solidFill>
                      <a:srgbClr val="FFFFFF"/>
                    </a:solidFill>
                  </a:tcPr>
                </a:tc>
              </a:tr>
              <a:tr h="347472">
                <a:tc>
                  <a:txBody>
                    <a:bodyPr/>
                    <a:lstStyle/>
                    <a:p>
                      <a:pPr algn="l"/>
                      <a:r>
                        <a:rPr sz="1100" b="0" i="0">
                          <a:solidFill>
                            <a:srgbClr val="212121"/>
                          </a:solidFill>
                          <a:latin typeface="Segoe UI"/>
                        </a:rPr>
                        <a:t>NODE_ENV</a:t>
                      </a:r>
                    </a:p>
                  </a:txBody>
                  <a:tcPr marL="73152" marR="73152" marT="36576" marB="36576">
                    <a:solidFill>
                      <a:srgbClr val="EFF6FC"/>
                    </a:solidFill>
                  </a:tcPr>
                </a:tc>
                <a:tc>
                  <a:txBody>
                    <a:bodyPr/>
                    <a:lstStyle/>
                    <a:p>
                      <a:pPr algn="l"/>
                      <a:r>
                        <a:rPr sz="1100" b="0" i="0">
                          <a:solidFill>
                            <a:srgbClr val="212121"/>
                          </a:solidFill>
                          <a:latin typeface="Segoe UI"/>
                        </a:rPr>
                        <a:t>development</a:t>
                      </a:r>
                    </a:p>
                  </a:txBody>
                  <a:tcPr marL="73152" marR="73152" marT="36576" marB="36576">
                    <a:solidFill>
                      <a:srgbClr val="EFF6FC"/>
                    </a:solidFill>
                  </a:tcPr>
                </a:tc>
                <a:tc>
                  <a:txBody>
                    <a:bodyPr/>
                    <a:lstStyle/>
                    <a:p>
                      <a:pPr algn="l"/>
                      <a:r>
                        <a:rPr sz="1100" b="0" i="0">
                          <a:solidFill>
                            <a:srgbClr val="212121"/>
                          </a:solidFill>
                          <a:latin typeface="Segoe UI"/>
                        </a:rPr>
                        <a:t>development</a:t>
                      </a:r>
                    </a:p>
                  </a:txBody>
                  <a:tcPr marL="73152" marR="73152" marT="36576" marB="36576">
                    <a:solidFill>
                      <a:srgbClr val="EFF6FC"/>
                    </a:solidFill>
                  </a:tcPr>
                </a:tc>
                <a:tc>
                  <a:txBody>
                    <a:bodyPr/>
                    <a:lstStyle/>
                    <a:p>
                      <a:pPr algn="l"/>
                      <a:r>
                        <a:rPr sz="1100" b="0" i="0">
                          <a:solidFill>
                            <a:srgbClr val="212121"/>
                          </a:solidFill>
                          <a:latin typeface="Segoe UI"/>
                        </a:rPr>
                        <a:t>production</a:t>
                      </a:r>
                    </a:p>
                  </a:txBody>
                  <a:tcPr marL="73152" marR="73152" marT="36576" marB="36576">
                    <a:solidFill>
                      <a:srgbClr val="EFF6FC"/>
                    </a:solidFill>
                  </a:tcPr>
                </a:tc>
              </a:tr>
            </a:tbl>
          </a:graphicData>
        </a:graphic>
      </p:graphicFrame>
      <p:grpSp>
        <p:nvGrpSpPr>
          <p:cNvPr id="108" name="Group"/>
          <p:cNvGrpSpPr/>
          <p:nvPr/>
        </p:nvGrpSpPr>
        <p:grpSpPr>
          <a:xfrm>
            <a:off x="731520" y="4572000"/>
            <a:ext cx="10058400" cy="822960"/>
            <a:chOff x="731520" y="4572000"/>
            <a:chExt cx="10058400" cy="822960"/>
          </a:xfrm>
        </p:grpSpPr>
        <p:sp>
          <p:nvSpPr>
            <p:cNvPr id="5" name="Rounded Rectangle 4"/>
            <p:cNvSpPr/>
            <p:nvPr/>
          </p:nvSpPr>
          <p:spPr>
            <a:xfrm>
              <a:off x="731520" y="4572000"/>
              <a:ext cx="10058400" cy="822960"/>
            </a:xfrm>
            <a:prstGeom prst="roundRect">
              <a:avLst>
                <a:gd name="adj" fmla="val 4000"/>
              </a:avLst>
            </a:prstGeom>
            <a:solidFill>
              <a:srgbClr val="EFF6FC"/>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73152" bIns="73152">
              <a:normAutofit/>
            </a:bodyPr>
            <a:lstStyle/>
            <a:p>
              <a:pPr algn="l"/>
              <a:r>
                <a:rPr sz="1300" b="1" i="0">
                  <a:solidFill>
                    <a:srgbClr val="243A5E"/>
                  </a:solidFill>
                  <a:latin typeface="Segoe UI Semibold"/>
                </a:rPr>
                <a:t>Same Bicep templates, different parameters.</a:t>
              </a:r>
            </a:p>
            <a:p>
              <a:pPr algn="l"/>
              <a:r>
                <a:rPr sz="1300" b="1" i="0">
                  <a:solidFill>
                    <a:srgbClr val="243A5E"/>
                  </a:solidFill>
                  <a:latin typeface="Segoe UI Semibold"/>
                </a:rPr>
                <a:t>One codebase drives all three environments with appropriate cost and performance trade-offs.</a:t>
              </a:r>
            </a:p>
          </p:txBody>
        </p:sp>
        <p:sp>
          <p:nvSpPr>
            <p:cNvPr id="6" name="Rectangle 5"/>
            <p:cNvSpPr/>
            <p:nvPr/>
          </p:nvSpPr>
          <p:spPr>
            <a:xfrm>
              <a:off x="731520" y="4572000"/>
              <a:ext cx="63500" cy="8229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43A5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097280"/>
            <a:ext cx="4114800" cy="41148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303520"/>
            <a:ext cx="1371600" cy="13716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9144000" cy="1097280"/>
          </a:xfrm>
          <a:prstGeom prst="rect">
            <a:avLst/>
          </a:prstGeom>
          <a:noFill/>
        </p:spPr>
        <p:txBody>
          <a:bodyPr wrap="square">
            <a:normAutofit/>
          </a:bodyPr>
          <a:lstStyle/>
          <a:p>
            <a:pPr algn="l"/>
            <a:r>
              <a:rPr sz="4400" b="0" i="0" spc="50">
                <a:solidFill>
                  <a:srgbClr val="FFFFFF"/>
                </a:solidFill>
                <a:latin typeface="Segoe UI Light"/>
              </a:rPr>
              <a:t>Application Deep Dive</a:t>
            </a:r>
          </a:p>
        </p:txBody>
      </p:sp>
      <p:sp>
        <p:nvSpPr>
          <p:cNvPr id="6" name="TextBox 5"/>
          <p:cNvSpPr txBox="1"/>
          <p:nvPr/>
        </p:nvSpPr>
        <p:spPr>
          <a:xfrm>
            <a:off x="914400" y="3749039"/>
            <a:ext cx="8229600" cy="731520"/>
          </a:xfrm>
          <a:prstGeom prst="rect">
            <a:avLst/>
          </a:prstGeom>
          <a:noFill/>
        </p:spPr>
        <p:txBody>
          <a:bodyPr wrap="square">
            <a:spAutoFit/>
          </a:bodyPr>
          <a:lstStyle/>
          <a:p>
            <a:pPr algn="l"/>
            <a:r>
              <a:rPr sz="1800" b="0" i="0">
                <a:solidFill>
                  <a:srgbClr val="CCE4FF"/>
                </a:solidFill>
                <a:latin typeface="Segoe UI"/>
              </a:rPr>
              <a:t>From ticker input to sentiment verdict</a:t>
            </a:r>
          </a:p>
        </p:txBody>
      </p:sp>
      <p:pic>
        <p:nvPicPr>
          <p:cNvPr id="7" name="Picture 6" descr="microsoft.png"/>
          <p:cNvPicPr>
            <a:picLocks noChangeAspect="1"/>
          </p:cNvPicPr>
          <p:nvPr/>
        </p:nvPicPr>
        <p:blipFill>
          <a:blip r:embed="rId2"/>
          <a:stretch>
            <a:fillRect/>
          </a:stretch>
        </p:blipFill>
        <p:spPr>
          <a:xfrm>
            <a:off x="10454335" y="6217920"/>
            <a:ext cx="1371600" cy="2928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The Analysis Pipeline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1371600" y="2011680"/>
            <a:ext cx="1463040" cy="91440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Validate</a:t>
            </a:r>
          </a:p>
          <a:p>
            <a:pPr algn="ctr"/>
            <a:r>
              <a:rPr sz="1800" b="1" i="0">
                <a:solidFill>
                  <a:srgbClr val="FFFFFF"/>
                </a:solidFill>
                <a:latin typeface="Segoe UI Semibold"/>
              </a:rPr>
              <a:t>Ticker</a:t>
            </a:r>
          </a:p>
        </p:txBody>
      </p:sp>
      <p:sp>
        <p:nvSpPr>
          <p:cNvPr id="5" name="Chevron 4"/>
          <p:cNvSpPr/>
          <p:nvPr/>
        </p:nvSpPr>
        <p:spPr>
          <a:xfrm>
            <a:off x="2880360" y="2240280"/>
            <a:ext cx="18288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108960" y="2011680"/>
            <a:ext cx="1463040" cy="914400"/>
          </a:xfrm>
          <a:prstGeom prst="roundRect">
            <a:avLst>
              <a:gd name="adj" fmla="val 6000"/>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Check</a:t>
            </a:r>
          </a:p>
          <a:p>
            <a:pPr algn="ctr"/>
            <a:r>
              <a:rPr sz="1800" b="1" i="0">
                <a:solidFill>
                  <a:srgbClr val="FFFFFF"/>
                </a:solidFill>
                <a:latin typeface="Segoe UI Semibold"/>
              </a:rPr>
              <a:t>Cache</a:t>
            </a:r>
          </a:p>
        </p:txBody>
      </p:sp>
      <p:sp>
        <p:nvSpPr>
          <p:cNvPr id="7" name="Chevron 6"/>
          <p:cNvSpPr/>
          <p:nvPr/>
        </p:nvSpPr>
        <p:spPr>
          <a:xfrm>
            <a:off x="4617720" y="2240280"/>
            <a:ext cx="18288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846320" y="2011680"/>
            <a:ext cx="1463040" cy="914400"/>
          </a:xfrm>
          <a:prstGeom prst="roundRect">
            <a:avLst>
              <a:gd name="adj" fmla="val 6000"/>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Fetch</a:t>
            </a:r>
          </a:p>
          <a:p>
            <a:pPr algn="ctr"/>
            <a:r>
              <a:rPr sz="1800" b="1" i="0">
                <a:solidFill>
                  <a:srgbClr val="FFFFFF"/>
                </a:solidFill>
                <a:latin typeface="Segoe UI Semibold"/>
              </a:rPr>
              <a:t>Tweets</a:t>
            </a:r>
          </a:p>
        </p:txBody>
      </p:sp>
      <p:sp>
        <p:nvSpPr>
          <p:cNvPr id="9" name="Chevron 8"/>
          <p:cNvSpPr/>
          <p:nvPr/>
        </p:nvSpPr>
        <p:spPr>
          <a:xfrm>
            <a:off x="6355080" y="2240280"/>
            <a:ext cx="18288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0" y="2011680"/>
            <a:ext cx="1463040" cy="914400"/>
          </a:xfrm>
          <a:prstGeom prst="roundRect">
            <a:avLst>
              <a:gd name="adj" fmla="val 6000"/>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Analyze</a:t>
            </a:r>
          </a:p>
          <a:p>
            <a:pPr algn="ctr"/>
            <a:r>
              <a:rPr sz="1800" b="1" i="0">
                <a:solidFill>
                  <a:srgbClr val="FFFFFF"/>
                </a:solidFill>
                <a:latin typeface="Segoe UI Semibold"/>
              </a:rPr>
              <a:t>Sentiment</a:t>
            </a:r>
          </a:p>
        </p:txBody>
      </p:sp>
      <p:sp>
        <p:nvSpPr>
          <p:cNvPr id="11" name="Chevron 10"/>
          <p:cNvSpPr/>
          <p:nvPr/>
        </p:nvSpPr>
        <p:spPr>
          <a:xfrm>
            <a:off x="8092440" y="2240280"/>
            <a:ext cx="182880" cy="457200"/>
          </a:xfrm>
          <a:prstGeom prst="chevron">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21040" y="2011680"/>
            <a:ext cx="1463040" cy="914400"/>
          </a:xfrm>
          <a:prstGeom prst="roundRect">
            <a:avLst>
              <a:gd name="adj" fmla="val 6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normAutofit/>
          </a:bodyPr>
          <a:lstStyle/>
          <a:p>
            <a:pPr algn="ctr"/>
            <a:r>
              <a:rPr sz="1800" b="1" i="0">
                <a:solidFill>
                  <a:srgbClr val="FFFFFF"/>
                </a:solidFill>
                <a:latin typeface="Segoe UI Semibold"/>
              </a:rPr>
              <a:t>Aggregate</a:t>
            </a:r>
          </a:p>
          <a:p>
            <a:pPr algn="ctr"/>
            <a:r>
              <a:rPr sz="1800" b="1" i="0">
                <a:solidFill>
                  <a:srgbClr val="FFFFFF"/>
                </a:solidFill>
                <a:latin typeface="Segoe UI Semibold"/>
              </a:rPr>
              <a:t>Results</a:t>
            </a:r>
          </a:p>
        </p:txBody>
      </p:sp>
      <p:sp>
        <p:nvSpPr>
          <p:cNvPr id="13" name="TextBox 12"/>
          <p:cNvSpPr txBox="1"/>
          <p:nvPr/>
        </p:nvSpPr>
        <p:spPr>
          <a:xfrm>
            <a:off x="4846320" y="3200400"/>
            <a:ext cx="1463040" cy="822959"/>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X API v2
Recent Search</a:t>
            </a:r>
          </a:p>
        </p:txBody>
      </p:sp>
      <p:sp>
        <p:nvSpPr>
          <p:cNvPr id="14" name="TextBox 13"/>
          <p:cNvSpPr txBox="1"/>
          <p:nvPr/>
        </p:nvSpPr>
        <p:spPr>
          <a:xfrm>
            <a:off x="6583680" y="3200400"/>
            <a:ext cx="1463040" cy="822959"/>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Azure AI
Batches of 10</a:t>
            </a:r>
          </a:p>
        </p:txBody>
      </p:sp>
      <p:sp>
        <p:nvSpPr>
          <p:cNvPr id="15" name="TextBox 14"/>
          <p:cNvSpPr txBox="1"/>
          <p:nvPr/>
        </p:nvSpPr>
        <p:spPr>
          <a:xfrm>
            <a:off x="8321040" y="3200400"/>
            <a:ext cx="1463040" cy="822959"/>
          </a:xfrm>
          <a:prstGeom prst="rect">
            <a:avLst/>
          </a:prstGeom>
          <a:noFill/>
        </p:spPr>
        <p:txBody>
          <a:bodyPr wrap="square">
            <a:spAutoFit/>
          </a:bodyPr>
          <a:lstStyle/>
          <a:p>
            <a:pPr marL="228600" indent="-182880">
              <a:spcAft>
                <a:spcPts val="800"/>
              </a:spcAft>
              <a:buClr>
                <a:srgbClr val="0078D4"/>
              </a:buClr>
              <a:buChar char="•"/>
            </a:pPr>
            <a:r>
              <a:rPr sz="1200" b="0" i="0">
                <a:solidFill>
                  <a:srgbClr val="616161"/>
                </a:solidFill>
                <a:latin typeface="Segoe UI"/>
              </a:rPr>
              <a:t>10% threshold
rule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Smart Batching and Aggregation</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TextBox 3"/>
          <p:cNvSpPr txBox="1"/>
          <p:nvPr/>
        </p:nvSpPr>
        <p:spPr>
          <a:xfrm>
            <a:off x="731520" y="1097280"/>
            <a:ext cx="4869180" cy="548640"/>
          </a:xfrm>
          <a:prstGeom prst="rect">
            <a:avLst/>
          </a:prstGeom>
          <a:noFill/>
        </p:spPr>
        <p:txBody>
          <a:bodyPr wrap="square">
            <a:spAutoFit/>
          </a:bodyPr>
          <a:lstStyle/>
          <a:p>
            <a:pPr algn="l"/>
            <a:r>
              <a:rPr sz="2000" b="1" i="0">
                <a:gradFill>
                  <a:gsLst>
                    <a:gs pos="0">
                      <a:srgbClr val="0078D4"/>
                    </a:gs>
                    <a:gs pos="100000">
                      <a:srgbClr val="59A7E3"/>
                    </a:gs>
                  </a:gsLst>
                  <a:lin ang="0" scaled="1"/>
                </a:gradFill>
                <a:latin typeface="Segoe UI"/>
              </a:rPr>
              <a:t>Batching Strategy</a:t>
            </a:r>
          </a:p>
        </p:txBody>
      </p:sp>
      <p:sp>
        <p:nvSpPr>
          <p:cNvPr id="5" name="TextBox 4"/>
          <p:cNvSpPr txBox="1"/>
          <p:nvPr/>
        </p:nvSpPr>
        <p:spPr>
          <a:xfrm>
            <a:off x="731520" y="1691640"/>
            <a:ext cx="4869180" cy="1463040"/>
          </a:xfrm>
          <a:prstGeom prst="rect">
            <a:avLst/>
          </a:prstGeom>
          <a:noFill/>
        </p:spPr>
        <p:txBody>
          <a:bodyPr wrap="square">
            <a:spAutoFit/>
          </a:bodyPr>
          <a:lstStyle/>
          <a:p>
            <a:pPr marL="164592" indent="-137160">
              <a:spcAft>
                <a:spcPts val="600"/>
              </a:spcAft>
              <a:buClr>
                <a:srgbClr val="0078D4"/>
              </a:buClr>
              <a:buChar char="· "/>
            </a:pPr>
            <a:r>
              <a:rPr sz="1200" b="1" i="0">
                <a:solidFill>
                  <a:srgbClr val="212121"/>
                </a:solidFill>
                <a:latin typeface="Segoe UI Semibold"/>
              </a:rPr>
              <a:t>10 documents per API call</a:t>
            </a:r>
            <a:r>
              <a:rPr sz="1200" b="0" i="0">
                <a:solidFill>
                  <a:srgbClr val="212121"/>
                </a:solidFill>
                <a:latin typeface="Segoe UI"/>
              </a:rPr>
              <a:t> — Azure limit</a:t>
            </a:r>
          </a:p>
          <a:p>
            <a:pPr marL="164592" indent="-137160">
              <a:spcAft>
                <a:spcPts val="600"/>
              </a:spcAft>
              <a:buClr>
                <a:srgbClr val="0078D4"/>
              </a:buClr>
              <a:buChar char="· "/>
            </a:pPr>
            <a:r>
              <a:rPr sz="1200" b="0" i="0">
                <a:solidFill>
                  <a:srgbClr val="212121"/>
                </a:solidFill>
                <a:latin typeface="Segoe UI"/>
              </a:rPr>
              <a:t>50 tweets = </a:t>
            </a:r>
            <a:r>
              <a:rPr sz="1200" b="1" i="0">
                <a:solidFill>
                  <a:srgbClr val="212121"/>
                </a:solidFill>
                <a:latin typeface="Segoe UI Semibold"/>
              </a:rPr>
              <a:t>5 API calls</a:t>
            </a:r>
            <a:r>
              <a:rPr sz="1200" b="0" i="0">
                <a:solidFill>
                  <a:srgbClr val="212121"/>
                </a:solidFill>
                <a:latin typeface="Segoe UI"/>
              </a:rPr>
              <a:t> not 50</a:t>
            </a:r>
          </a:p>
          <a:p>
            <a:pPr marL="164592" indent="-137160">
              <a:spcAft>
                <a:spcPts val="600"/>
              </a:spcAft>
              <a:buClr>
                <a:srgbClr val="0078D4"/>
              </a:buClr>
              <a:buChar char="· "/>
            </a:pPr>
            <a:r>
              <a:rPr sz="1200" b="0" i="0">
                <a:solidFill>
                  <a:srgbClr val="212121"/>
                </a:solidFill>
                <a:latin typeface="Segoe UI"/>
              </a:rPr>
              <a:t>Per-document error handling</a:t>
            </a:r>
          </a:p>
          <a:p>
            <a:pPr marL="164592" indent="-137160">
              <a:spcAft>
                <a:spcPts val="600"/>
              </a:spcAft>
              <a:buClr>
                <a:srgbClr val="0078D4"/>
              </a:buClr>
              <a:buChar char="· "/>
            </a:pPr>
            <a:r>
              <a:rPr sz="1200" b="0" i="0">
                <a:solidFill>
                  <a:srgbClr val="212121"/>
                </a:solidFill>
                <a:latin typeface="Segoe UI"/>
              </a:rPr>
              <a:t>Failed docs don't break the batch</a:t>
            </a:r>
          </a:p>
        </p:txBody>
      </p:sp>
      <p:sp>
        <p:nvSpPr>
          <p:cNvPr id="6" name="TextBox 5"/>
          <p:cNvSpPr txBox="1"/>
          <p:nvPr/>
        </p:nvSpPr>
        <p:spPr>
          <a:xfrm>
            <a:off x="5920740" y="1097280"/>
            <a:ext cx="4869180" cy="548640"/>
          </a:xfrm>
          <a:prstGeom prst="rect">
            <a:avLst/>
          </a:prstGeom>
          <a:noFill/>
        </p:spPr>
        <p:txBody>
          <a:bodyPr wrap="square">
            <a:spAutoFit/>
          </a:bodyPr>
          <a:lstStyle/>
          <a:p>
            <a:pPr algn="l"/>
            <a:r>
              <a:rPr sz="2000" b="1" i="0">
                <a:gradFill>
                  <a:gsLst>
                    <a:gs pos="0">
                      <a:srgbClr val="243A5E"/>
                    </a:gs>
                    <a:gs pos="100000">
                      <a:srgbClr val="707E96"/>
                    </a:gs>
                  </a:gsLst>
                  <a:lin ang="0" scaled="1"/>
                </a:gradFill>
                <a:latin typeface="Segoe UI"/>
              </a:rPr>
              <a:t>Aggregation Logic</a:t>
            </a:r>
          </a:p>
        </p:txBody>
      </p:sp>
      <p:sp>
        <p:nvSpPr>
          <p:cNvPr id="7" name="TextBox 6"/>
          <p:cNvSpPr txBox="1"/>
          <p:nvPr/>
        </p:nvSpPr>
        <p:spPr>
          <a:xfrm>
            <a:off x="5920740" y="1691640"/>
            <a:ext cx="4869180" cy="1463040"/>
          </a:xfrm>
          <a:prstGeom prst="rect">
            <a:avLst/>
          </a:prstGeom>
          <a:noFill/>
        </p:spPr>
        <p:txBody>
          <a:bodyPr wrap="square">
            <a:spAutoFit/>
          </a:bodyPr>
          <a:lstStyle/>
          <a:p>
            <a:pPr marL="164592" indent="-137160">
              <a:spcAft>
                <a:spcPts val="600"/>
              </a:spcAft>
              <a:buClr>
                <a:srgbClr val="243A5E"/>
              </a:buClr>
              <a:buChar char="· "/>
            </a:pPr>
            <a:r>
              <a:rPr sz="1200" b="0" i="0">
                <a:solidFill>
                  <a:srgbClr val="212121"/>
                </a:solidFill>
                <a:latin typeface="Segoe UI"/>
              </a:rPr>
              <a:t>Average </a:t>
            </a:r>
            <a:r>
              <a:rPr sz="1200" b="1" i="0">
                <a:solidFill>
                  <a:srgbClr val="212121"/>
                </a:solidFill>
                <a:latin typeface="Segoe UI Semibold"/>
              </a:rPr>
              <a:t>positive</a:t>
            </a:r>
            <a:r>
              <a:rPr sz="1200" b="0" i="0">
                <a:solidFill>
                  <a:srgbClr val="212121"/>
                </a:solidFill>
                <a:latin typeface="Segoe UI"/>
              </a:rPr>
              <a:t> vs </a:t>
            </a:r>
            <a:r>
              <a:rPr sz="1200" b="1" i="0">
                <a:solidFill>
                  <a:srgbClr val="212121"/>
                </a:solidFill>
                <a:latin typeface="Segoe UI Semibold"/>
              </a:rPr>
              <a:t>negative</a:t>
            </a:r>
            <a:r>
              <a:rPr sz="1200" b="0" i="0">
                <a:solidFill>
                  <a:srgbClr val="212121"/>
                </a:solidFill>
                <a:latin typeface="Segoe UI"/>
              </a:rPr>
              <a:t> scores</a:t>
            </a:r>
          </a:p>
          <a:p>
            <a:pPr marL="164592" indent="-137160">
              <a:spcAft>
                <a:spcPts val="600"/>
              </a:spcAft>
              <a:buClr>
                <a:srgbClr val="243A5E"/>
              </a:buClr>
              <a:buChar char="· "/>
            </a:pPr>
            <a:r>
              <a:rPr sz="1200" b="1" i="0">
                <a:solidFill>
                  <a:srgbClr val="212121"/>
                </a:solidFill>
                <a:latin typeface="Segoe UI Semibold"/>
              </a:rPr>
              <a:t>&gt;10% gap</a:t>
            </a:r>
            <a:r>
              <a:rPr sz="1200" b="0" i="0">
                <a:solidFill>
                  <a:srgbClr val="212121"/>
                </a:solidFill>
                <a:latin typeface="Segoe UI"/>
              </a:rPr>
              <a:t> = Bullish or Bearish</a:t>
            </a:r>
          </a:p>
          <a:p>
            <a:pPr marL="164592" indent="-137160">
              <a:spcAft>
                <a:spcPts val="600"/>
              </a:spcAft>
              <a:buClr>
                <a:srgbClr val="243A5E"/>
              </a:buClr>
              <a:buChar char="· "/>
            </a:pPr>
            <a:r>
              <a:rPr sz="1200" b="1" i="0">
                <a:solidFill>
                  <a:srgbClr val="212121"/>
                </a:solidFill>
                <a:latin typeface="Segoe UI Semibold"/>
              </a:rPr>
              <a:t>Within 10%</a:t>
            </a:r>
            <a:r>
              <a:rPr sz="1200" b="0" i="0">
                <a:solidFill>
                  <a:srgbClr val="212121"/>
                </a:solidFill>
                <a:latin typeface="Segoe UI"/>
              </a:rPr>
              <a:t> = Neutral verdict</a:t>
            </a:r>
          </a:p>
          <a:p>
            <a:pPr marL="164592" indent="-137160">
              <a:spcAft>
                <a:spcPts val="600"/>
              </a:spcAft>
              <a:buClr>
                <a:srgbClr val="243A5E"/>
              </a:buClr>
              <a:buChar char="· "/>
            </a:pPr>
            <a:r>
              <a:rPr sz="1200" b="0" i="0">
                <a:solidFill>
                  <a:srgbClr val="212121"/>
                </a:solidFill>
                <a:latin typeface="Segoe UI"/>
              </a:rPr>
              <a:t>Unknown sentiment filtered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Built-In Resilience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grpSp>
        <p:nvGrpSpPr>
          <p:cNvPr id="110" name="Group"/>
          <p:cNvGrpSpPr/>
          <p:nvPr/>
        </p:nvGrpSpPr>
        <p:grpSpPr>
          <a:xfrm>
            <a:off x="731520" y="1097280"/>
            <a:ext cx="3931920" cy="1920240"/>
            <a:chOff x="731520" y="1097280"/>
            <a:chExt cx="3931920" cy="1920240"/>
          </a:xfrm>
        </p:grpSpPr>
        <p:sp>
          <p:nvSpPr>
            <p:cNvPr id="4" name="Rounded Rectangle 3"/>
            <p:cNvSpPr/>
            <p:nvPr/>
          </p:nvSpPr>
          <p:spPr>
            <a:xfrm>
              <a:off x="731520" y="1097280"/>
              <a:ext cx="3931920" cy="1920240"/>
            </a:xfrm>
            <a:prstGeom prst="roundRect">
              <a:avLst>
                <a:gd name="adj" fmla="val 5000"/>
              </a:avLst>
            </a:prstGeom>
            <a:solidFill>
              <a:srgbClr val="0078D4"/>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170432"/>
              <a:ext cx="393192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346911"/>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1</a:t>
              </a:r>
            </a:p>
          </p:txBody>
        </p:sp>
        <p:sp>
          <p:nvSpPr>
            <p:cNvPr id="7" name="TextBox 6"/>
            <p:cNvSpPr txBox="1"/>
            <p:nvPr/>
          </p:nvSpPr>
          <p:spPr>
            <a:xfrm>
              <a:off x="1600200" y="1346911"/>
              <a:ext cx="2834640" cy="345643"/>
            </a:xfrm>
            <a:prstGeom prst="rect">
              <a:avLst/>
            </a:prstGeom>
            <a:noFill/>
          </p:spPr>
          <p:txBody>
            <a:bodyPr wrap="square">
              <a:normAutofit/>
            </a:bodyPr>
            <a:lstStyle/>
            <a:p>
              <a:pPr algn="l"/>
              <a:r>
                <a:rPr sz="1600" b="1" i="0">
                  <a:solidFill>
                    <a:srgbClr val="243A5E"/>
                  </a:solidFill>
                  <a:latin typeface="Segoe UI Semibold"/>
                </a:rPr>
                <a:t>Caching</a:t>
              </a:r>
            </a:p>
          </p:txBody>
        </p:sp>
        <p:sp>
          <p:nvSpPr>
            <p:cNvPr id="8" name="TextBox 7"/>
            <p:cNvSpPr txBox="1"/>
            <p:nvPr/>
          </p:nvSpPr>
          <p:spPr>
            <a:xfrm>
              <a:off x="1600200" y="1730959"/>
              <a:ext cx="2834640" cy="1152144"/>
            </a:xfrm>
            <a:prstGeom prst="rect">
              <a:avLst/>
            </a:prstGeom>
            <a:noFill/>
          </p:spPr>
          <p:txBody>
            <a:bodyPr wrap="square">
              <a:normAutofit/>
            </a:bodyPr>
            <a:lstStyle/>
            <a:p>
              <a:pPr algn="l"/>
              <a:r>
                <a:rPr sz="1200" b="0" i="0">
                  <a:solidFill>
                    <a:srgbClr val="616161"/>
                  </a:solidFill>
                  <a:latin typeface="Segoe UI"/>
                </a:rPr>
                <a:t>Results cached for </a:t>
              </a:r>
              <a:r>
                <a:rPr sz="1200" b="1" i="0">
                  <a:solidFill>
                    <a:srgbClr val="616161"/>
                  </a:solidFill>
                  <a:latin typeface="Segoe UI Semibold"/>
                </a:rPr>
                <a:t>5 minutes</a:t>
              </a:r>
              <a:r>
                <a:rPr sz="1200" b="0" i="0">
                  <a:solidFill>
                    <a:srgbClr val="616161"/>
                  </a:solidFill>
                  <a:latin typeface="Segoe UI"/>
                </a:rPr>
                <a:t> per ticker.
Reduces API costs and respects X rate limits.</a:t>
              </a:r>
            </a:p>
          </p:txBody>
        </p:sp>
      </p:grpSp>
      <p:grpSp>
        <p:nvGrpSpPr>
          <p:cNvPr id="111" name="Group"/>
          <p:cNvGrpSpPr/>
          <p:nvPr/>
        </p:nvGrpSpPr>
        <p:grpSpPr>
          <a:xfrm>
            <a:off x="4983480" y="1097280"/>
            <a:ext cx="3931920" cy="1920240"/>
            <a:chOff x="4983480" y="1097280"/>
            <a:chExt cx="3931920" cy="1920240"/>
          </a:xfrm>
        </p:grpSpPr>
        <p:sp>
          <p:nvSpPr>
            <p:cNvPr id="111" name="Rounded Rectangle 110"/>
            <p:cNvSpPr/>
            <p:nvPr/>
          </p:nvSpPr>
          <p:spPr>
            <a:xfrm>
              <a:off x="4983480" y="1097280"/>
              <a:ext cx="3931920" cy="1920240"/>
            </a:xfrm>
            <a:prstGeom prst="roundRect">
              <a:avLst>
                <a:gd name="adj" fmla="val 5000"/>
              </a:avLst>
            </a:prstGeom>
            <a:solidFill>
              <a:srgbClr val="243A5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4983480" y="1170432"/>
              <a:ext cx="393192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5212080" y="1346911"/>
              <a:ext cx="457200" cy="4572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2</a:t>
              </a:r>
            </a:p>
          </p:txBody>
        </p:sp>
        <p:sp>
          <p:nvSpPr>
            <p:cNvPr id="114" name="TextBox 113"/>
            <p:cNvSpPr txBox="1"/>
            <p:nvPr/>
          </p:nvSpPr>
          <p:spPr>
            <a:xfrm>
              <a:off x="5852160" y="1346911"/>
              <a:ext cx="2834640" cy="345643"/>
            </a:xfrm>
            <a:prstGeom prst="rect">
              <a:avLst/>
            </a:prstGeom>
            <a:noFill/>
          </p:spPr>
          <p:txBody>
            <a:bodyPr wrap="square">
              <a:normAutofit/>
            </a:bodyPr>
            <a:lstStyle/>
            <a:p>
              <a:pPr algn="l"/>
              <a:r>
                <a:rPr sz="1600" b="1" i="0">
                  <a:solidFill>
                    <a:srgbClr val="243A5E"/>
                  </a:solidFill>
                  <a:latin typeface="Segoe UI Semibold"/>
                </a:rPr>
                <a:t>Rate Limiting</a:t>
              </a:r>
            </a:p>
          </p:txBody>
        </p:sp>
        <p:sp>
          <p:nvSpPr>
            <p:cNvPr id="115" name="TextBox 114"/>
            <p:cNvSpPr txBox="1"/>
            <p:nvPr/>
          </p:nvSpPr>
          <p:spPr>
            <a:xfrm>
              <a:off x="5852160" y="1730959"/>
              <a:ext cx="2834640" cy="1152144"/>
            </a:xfrm>
            <a:prstGeom prst="rect">
              <a:avLst/>
            </a:prstGeom>
            <a:noFill/>
          </p:spPr>
          <p:txBody>
            <a:bodyPr wrap="square">
              <a:normAutofit/>
            </a:bodyPr>
            <a:lstStyle/>
            <a:p>
              <a:pPr algn="l"/>
              <a:r>
                <a:rPr sz="1200" b="1" i="0">
                  <a:solidFill>
                    <a:srgbClr val="616161"/>
                  </a:solidFill>
                  <a:latin typeface="Segoe UI Semibold"/>
                </a:rPr>
                <a:t>100 requests per 15 minutes</a:t>
              </a:r>
              <a:r>
                <a:rPr sz="1200" b="0" i="0">
                  <a:solidFill>
                    <a:srgbClr val="616161"/>
                  </a:solidFill>
                  <a:latin typeface="Segoe UI"/>
                </a:rPr>
                <a:t> via express-rate-limit.
Prevents abuse and cost overrun.</a:t>
              </a:r>
            </a:p>
          </p:txBody>
        </p:sp>
      </p:grpSp>
      <p:grpSp>
        <p:nvGrpSpPr>
          <p:cNvPr id="112" name="Group"/>
          <p:cNvGrpSpPr/>
          <p:nvPr/>
        </p:nvGrpSpPr>
        <p:grpSpPr>
          <a:xfrm>
            <a:off x="731520" y="3291840"/>
            <a:ext cx="3931920" cy="1920240"/>
            <a:chOff x="731520" y="3291840"/>
            <a:chExt cx="3931920" cy="1920240"/>
          </a:xfrm>
        </p:grpSpPr>
        <p:sp>
          <p:nvSpPr>
            <p:cNvPr id="116" name="Rounded Rectangle 115"/>
            <p:cNvSpPr/>
            <p:nvPr/>
          </p:nvSpPr>
          <p:spPr>
            <a:xfrm>
              <a:off x="731520" y="3291840"/>
              <a:ext cx="3931920" cy="1920240"/>
            </a:xfrm>
            <a:prstGeom prst="roundRect">
              <a:avLst>
                <a:gd name="adj" fmla="val 5000"/>
              </a:avLst>
            </a:prstGeom>
            <a:solidFill>
              <a:srgbClr val="006CB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731520" y="3364992"/>
              <a:ext cx="393192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60120" y="3541471"/>
              <a:ext cx="457200" cy="457200"/>
            </a:xfrm>
            <a:prstGeom prst="ellipse">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3</a:t>
              </a:r>
            </a:p>
          </p:txBody>
        </p:sp>
        <p:sp>
          <p:nvSpPr>
            <p:cNvPr id="119" name="TextBox 118"/>
            <p:cNvSpPr txBox="1"/>
            <p:nvPr/>
          </p:nvSpPr>
          <p:spPr>
            <a:xfrm>
              <a:off x="1600200" y="3541471"/>
              <a:ext cx="2834640" cy="345643"/>
            </a:xfrm>
            <a:prstGeom prst="rect">
              <a:avLst/>
            </a:prstGeom>
            <a:noFill/>
          </p:spPr>
          <p:txBody>
            <a:bodyPr wrap="square">
              <a:normAutofit/>
            </a:bodyPr>
            <a:lstStyle/>
            <a:p>
              <a:pPr algn="l"/>
              <a:r>
                <a:rPr sz="1600" b="1" i="0">
                  <a:solidFill>
                    <a:srgbClr val="243A5E"/>
                  </a:solidFill>
                  <a:latin typeface="Segoe UI Semibold"/>
                </a:rPr>
                <a:t>Dual-Mode Secrets</a:t>
              </a:r>
            </a:p>
          </p:txBody>
        </p:sp>
        <p:sp>
          <p:nvSpPr>
            <p:cNvPr id="120" name="TextBox 119"/>
            <p:cNvSpPr txBox="1"/>
            <p:nvPr/>
          </p:nvSpPr>
          <p:spPr>
            <a:xfrm>
              <a:off x="1600200" y="3925519"/>
              <a:ext cx="2834640" cy="1152144"/>
            </a:xfrm>
            <a:prstGeom prst="rect">
              <a:avLst/>
            </a:prstGeom>
            <a:noFill/>
          </p:spPr>
          <p:txBody>
            <a:bodyPr wrap="square">
              <a:normAutofit/>
            </a:bodyPr>
            <a:lstStyle/>
            <a:p>
              <a:pPr algn="l"/>
              <a:r>
                <a:rPr sz="1200" b="1" i="0">
                  <a:solidFill>
                    <a:srgbClr val="616161"/>
                  </a:solidFill>
                  <a:latin typeface="Segoe UI Semibold"/>
                </a:rPr>
                <a:t>Key Vault</a:t>
              </a:r>
              <a:r>
                <a:rPr sz="1200" b="0" i="0">
                  <a:solidFill>
                    <a:srgbClr val="616161"/>
                  </a:solidFill>
                  <a:latin typeface="Segoe UI"/>
                </a:rPr>
                <a:t> + managed identity on Azure.
</a:t>
              </a:r>
              <a:r>
                <a:rPr sz="1200" b="1" i="0">
                  <a:solidFill>
                    <a:srgbClr val="616161"/>
                  </a:solidFill>
                  <a:latin typeface="Segoe UI Semibold"/>
                </a:rPr>
                <a:t>Environment variables</a:t>
              </a:r>
              <a:r>
                <a:rPr sz="1200" b="0" i="0">
                  <a:solidFill>
                    <a:srgbClr val="616161"/>
                  </a:solidFill>
                  <a:latin typeface="Segoe UI"/>
                </a:rPr>
                <a:t> for local dev.</a:t>
              </a:r>
            </a:p>
          </p:txBody>
        </p:sp>
      </p:grpSp>
      <p:grpSp>
        <p:nvGrpSpPr>
          <p:cNvPr id="113" name="Group"/>
          <p:cNvGrpSpPr/>
          <p:nvPr/>
        </p:nvGrpSpPr>
        <p:grpSpPr>
          <a:xfrm>
            <a:off x="4983480" y="3291840"/>
            <a:ext cx="3931920" cy="1920240"/>
            <a:chOff x="4983480" y="3291840"/>
            <a:chExt cx="3931920" cy="1920240"/>
          </a:xfrm>
        </p:grpSpPr>
        <p:sp>
          <p:nvSpPr>
            <p:cNvPr id="121" name="Rounded Rectangle 120"/>
            <p:cNvSpPr/>
            <p:nvPr/>
          </p:nvSpPr>
          <p:spPr>
            <a:xfrm>
              <a:off x="4983480" y="3291840"/>
              <a:ext cx="3931920" cy="1920240"/>
            </a:xfrm>
            <a:prstGeom prst="roundRect">
              <a:avLst>
                <a:gd name="adj" fmla="val 5000"/>
              </a:avLst>
            </a:prstGeom>
            <a:solidFill>
              <a:srgbClr val="2E4A6E"/>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4983480" y="3364992"/>
              <a:ext cx="3931920" cy="1847088"/>
            </a:xfrm>
            <a:prstGeom prst="roundRect">
              <a:avLst>
                <a:gd name="adj" fmla="val 5000"/>
              </a:avLst>
            </a:prstGeom>
            <a:solidFill>
              <a:srgbClr val="FFFFFF"/>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212080" y="3541471"/>
              <a:ext cx="457200" cy="4572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400" b="1" i="0">
                  <a:solidFill>
                    <a:srgbClr val="FFFFFF"/>
                  </a:solidFill>
                  <a:latin typeface="Segoe UI Semibold"/>
                </a:rPr>
                <a:t>4</a:t>
              </a:r>
            </a:p>
          </p:txBody>
        </p:sp>
        <p:sp>
          <p:nvSpPr>
            <p:cNvPr id="124" name="TextBox 123"/>
            <p:cNvSpPr txBox="1"/>
            <p:nvPr/>
          </p:nvSpPr>
          <p:spPr>
            <a:xfrm>
              <a:off x="5852160" y="3541471"/>
              <a:ext cx="2834640" cy="345643"/>
            </a:xfrm>
            <a:prstGeom prst="rect">
              <a:avLst/>
            </a:prstGeom>
            <a:noFill/>
          </p:spPr>
          <p:txBody>
            <a:bodyPr wrap="square">
              <a:normAutofit/>
            </a:bodyPr>
            <a:lstStyle/>
            <a:p>
              <a:pPr algn="l"/>
              <a:r>
                <a:rPr sz="1600" b="1" i="0">
                  <a:solidFill>
                    <a:srgbClr val="243A5E"/>
                  </a:solidFill>
                  <a:latin typeface="Segoe UI Semibold"/>
                </a:rPr>
                <a:t>Input Validation</a:t>
              </a:r>
            </a:p>
          </p:txBody>
        </p:sp>
        <p:sp>
          <p:nvSpPr>
            <p:cNvPr id="125" name="TextBox 124"/>
            <p:cNvSpPr txBox="1"/>
            <p:nvPr/>
          </p:nvSpPr>
          <p:spPr>
            <a:xfrm>
              <a:off x="5852160" y="3925519"/>
              <a:ext cx="2834640" cy="1152144"/>
            </a:xfrm>
            <a:prstGeom prst="rect">
              <a:avLst/>
            </a:prstGeom>
            <a:noFill/>
          </p:spPr>
          <p:txBody>
            <a:bodyPr wrap="square">
              <a:normAutofit/>
            </a:bodyPr>
            <a:lstStyle/>
            <a:p>
              <a:pPr algn="l"/>
              <a:r>
                <a:rPr sz="1200" b="0" i="0">
                  <a:solidFill>
                    <a:srgbClr val="616161"/>
                  </a:solidFill>
                  <a:latin typeface="Segoe UI"/>
                </a:rPr>
                <a:t>Strict ticker regex: </a:t>
              </a:r>
              <a:r>
                <a:rPr sz="1200" b="1" i="0">
                  <a:solidFill>
                    <a:srgbClr val="616161"/>
                  </a:solidFill>
                  <a:latin typeface="Segoe UI Semibold"/>
                </a:rPr>
                <a:t>/^\$?[A-Z]{1,10}$/i</a:t>
              </a:r>
              <a:r>
                <a:rPr sz="1200" b="0" i="0">
                  <a:solidFill>
                    <a:srgbClr val="616161"/>
                  </a:solidFill>
                  <a:latin typeface="Segoe UI"/>
                </a:rPr>
                <a:t>
Normalized to uppercase with $ prefix.</a:t>
              </a: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43A5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097280"/>
            <a:ext cx="4114800" cy="41148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303520"/>
            <a:ext cx="1371600" cy="1371600"/>
          </a:xfrm>
          <a:prstGeom prst="ellipse">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9144000" cy="1097280"/>
          </a:xfrm>
          <a:prstGeom prst="rect">
            <a:avLst/>
          </a:prstGeom>
          <a:noFill/>
        </p:spPr>
        <p:txBody>
          <a:bodyPr wrap="square">
            <a:normAutofit/>
          </a:bodyPr>
          <a:lstStyle/>
          <a:p>
            <a:pPr algn="l"/>
            <a:r>
              <a:rPr sz="4400" b="0" i="0" spc="50">
                <a:solidFill>
                  <a:srgbClr val="FFFFFF"/>
                </a:solidFill>
                <a:latin typeface="Segoe UI Light"/>
              </a:rPr>
              <a:t>Live Experience</a:t>
            </a:r>
          </a:p>
        </p:txBody>
      </p:sp>
      <p:sp>
        <p:nvSpPr>
          <p:cNvPr id="6" name="TextBox 5"/>
          <p:cNvSpPr txBox="1"/>
          <p:nvPr/>
        </p:nvSpPr>
        <p:spPr>
          <a:xfrm>
            <a:off x="914400" y="3749039"/>
            <a:ext cx="8229600" cy="731520"/>
          </a:xfrm>
          <a:prstGeom prst="rect">
            <a:avLst/>
          </a:prstGeom>
          <a:noFill/>
        </p:spPr>
        <p:txBody>
          <a:bodyPr wrap="square">
            <a:spAutoFit/>
          </a:bodyPr>
          <a:lstStyle/>
          <a:p>
            <a:pPr algn="l"/>
            <a:r>
              <a:rPr sz="1800" b="0" i="0">
                <a:solidFill>
                  <a:srgbClr val="CCE4FF"/>
                </a:solidFill>
                <a:latin typeface="Segoe UI"/>
              </a:rPr>
              <a:t>From ticker to insight in seconds</a:t>
            </a:r>
          </a:p>
        </p:txBody>
      </p:sp>
      <p:pic>
        <p:nvPicPr>
          <p:cNvPr id="7" name="Picture 6" descr="microsoft.png"/>
          <p:cNvPicPr>
            <a:picLocks noChangeAspect="1"/>
          </p:cNvPicPr>
          <p:nvPr/>
        </p:nvPicPr>
        <p:blipFill>
          <a:blip r:embed="rId2"/>
          <a:stretch>
            <a:fillRect/>
          </a:stretch>
        </p:blipFill>
        <p:spPr>
          <a:xfrm>
            <a:off x="10454335" y="6217920"/>
            <a:ext cx="1371600" cy="29289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Dashboard Experience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548640" y="1463040"/>
            <a:ext cx="2560320" cy="1463040"/>
          </a:xfrm>
          <a:prstGeom prst="roundRect">
            <a:avLst>
              <a:gd name="adj" fmla="val 5000"/>
            </a:avLst>
          </a:prstGeom>
          <a:solidFill>
            <a:srgbClr val="FFFFFF"/>
          </a:solidFill>
          <a:ln w="12700">
            <a:solidFill>
              <a:srgbClr val="F2F2F2"/>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256032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609344"/>
            <a:ext cx="365760" cy="36576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1</a:t>
            </a:r>
          </a:p>
        </p:txBody>
      </p:sp>
      <p:sp>
        <p:nvSpPr>
          <p:cNvPr id="7" name="TextBox 6"/>
          <p:cNvSpPr txBox="1"/>
          <p:nvPr/>
        </p:nvSpPr>
        <p:spPr>
          <a:xfrm>
            <a:off x="1143000" y="1580083"/>
            <a:ext cx="1783080" cy="321868"/>
          </a:xfrm>
          <a:prstGeom prst="rect">
            <a:avLst/>
          </a:prstGeom>
          <a:noFill/>
        </p:spPr>
        <p:txBody>
          <a:bodyPr wrap="square">
            <a:normAutofit/>
          </a:bodyPr>
          <a:lstStyle/>
          <a:p>
            <a:pPr algn="l"/>
            <a:r>
              <a:rPr sz="1400" b="1" i="0">
                <a:solidFill>
                  <a:srgbClr val="243A5E"/>
                </a:solidFill>
                <a:latin typeface="Segoe UI Semibold"/>
              </a:rPr>
              <a:t>Summary Card</a:t>
            </a:r>
          </a:p>
        </p:txBody>
      </p:sp>
      <p:sp>
        <p:nvSpPr>
          <p:cNvPr id="8" name="TextBox 7"/>
          <p:cNvSpPr txBox="1"/>
          <p:nvPr/>
        </p:nvSpPr>
        <p:spPr>
          <a:xfrm>
            <a:off x="685800" y="2018995"/>
            <a:ext cx="2286000" cy="804672"/>
          </a:xfrm>
          <a:prstGeom prst="rect">
            <a:avLst/>
          </a:prstGeom>
          <a:noFill/>
        </p:spPr>
        <p:txBody>
          <a:bodyPr wrap="square">
            <a:normAutofit/>
          </a:bodyPr>
          <a:lstStyle/>
          <a:p>
            <a:pPr algn="l"/>
            <a:r>
              <a:rPr sz="1200" b="0" i="0">
                <a:solidFill>
                  <a:srgbClr val="616161"/>
                </a:solidFill>
                <a:latin typeface="Segoe UI"/>
              </a:rPr>
              <a:t>Overall </a:t>
            </a:r>
            <a:r>
              <a:rPr sz="1200" b="1" i="0">
                <a:solidFill>
                  <a:srgbClr val="616161"/>
                </a:solidFill>
                <a:latin typeface="Segoe UI Semibold"/>
              </a:rPr>
              <a:t>Bullish/Bearish/Neutral</a:t>
            </a:r>
            <a:r>
              <a:rPr sz="1200" b="0" i="0">
                <a:solidFill>
                  <a:srgbClr val="616161"/>
                </a:solidFill>
                <a:latin typeface="Segoe UI"/>
              </a:rPr>
              <a:t> verdict with color coding and average confidence scores</a:t>
            </a:r>
          </a:p>
        </p:txBody>
      </p:sp>
      <p:sp>
        <p:nvSpPr>
          <p:cNvPr id="9" name="Rounded Rectangle 8"/>
          <p:cNvSpPr/>
          <p:nvPr/>
        </p:nvSpPr>
        <p:spPr>
          <a:xfrm>
            <a:off x="3337560" y="1463040"/>
            <a:ext cx="2560320" cy="1463040"/>
          </a:xfrm>
          <a:prstGeom prst="roundRect">
            <a:avLst>
              <a:gd name="adj" fmla="val 5000"/>
            </a:avLst>
          </a:prstGeom>
          <a:solidFill>
            <a:srgbClr val="FFFFFF"/>
          </a:solidFill>
          <a:ln w="12700">
            <a:solidFill>
              <a:srgbClr val="F2F2F2"/>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463040"/>
            <a:ext cx="2560320" cy="36576"/>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74720" y="1609344"/>
            <a:ext cx="365760" cy="36576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2</a:t>
            </a:r>
          </a:p>
        </p:txBody>
      </p:sp>
      <p:sp>
        <p:nvSpPr>
          <p:cNvPr id="12" name="TextBox 11"/>
          <p:cNvSpPr txBox="1"/>
          <p:nvPr/>
        </p:nvSpPr>
        <p:spPr>
          <a:xfrm>
            <a:off x="3931920" y="1580083"/>
            <a:ext cx="1783080" cy="321868"/>
          </a:xfrm>
          <a:prstGeom prst="rect">
            <a:avLst/>
          </a:prstGeom>
          <a:noFill/>
        </p:spPr>
        <p:txBody>
          <a:bodyPr wrap="square">
            <a:normAutofit/>
          </a:bodyPr>
          <a:lstStyle/>
          <a:p>
            <a:pPr algn="l"/>
            <a:r>
              <a:rPr sz="1400" b="1" i="0">
                <a:solidFill>
                  <a:srgbClr val="243A5E"/>
                </a:solidFill>
                <a:latin typeface="Segoe UI Semibold"/>
              </a:rPr>
              <a:t>Pie Chart</a:t>
            </a:r>
          </a:p>
        </p:txBody>
      </p:sp>
      <p:sp>
        <p:nvSpPr>
          <p:cNvPr id="13" name="TextBox 12"/>
          <p:cNvSpPr txBox="1"/>
          <p:nvPr/>
        </p:nvSpPr>
        <p:spPr>
          <a:xfrm>
            <a:off x="3474720" y="2018995"/>
            <a:ext cx="2286000" cy="804672"/>
          </a:xfrm>
          <a:prstGeom prst="rect">
            <a:avLst/>
          </a:prstGeom>
          <a:noFill/>
        </p:spPr>
        <p:txBody>
          <a:bodyPr wrap="square">
            <a:normAutofit/>
          </a:bodyPr>
          <a:lstStyle/>
          <a:p>
            <a:pPr algn="l"/>
            <a:r>
              <a:rPr sz="1200" b="1" i="0">
                <a:solidFill>
                  <a:srgbClr val="616161"/>
                </a:solidFill>
                <a:latin typeface="Segoe UI Semibold"/>
              </a:rPr>
              <a:t>Chart.js</a:t>
            </a:r>
            <a:r>
              <a:rPr sz="1200" b="0" i="0">
                <a:solidFill>
                  <a:srgbClr val="616161"/>
                </a:solidFill>
                <a:latin typeface="Segoe UI"/>
              </a:rPr>
              <a:t> visualization showing sentiment distribution across positive, negative, neutral, mixed</a:t>
            </a:r>
          </a:p>
        </p:txBody>
      </p:sp>
      <p:sp>
        <p:nvSpPr>
          <p:cNvPr id="14" name="Rounded Rectangle 13"/>
          <p:cNvSpPr/>
          <p:nvPr/>
        </p:nvSpPr>
        <p:spPr>
          <a:xfrm>
            <a:off x="6126480" y="1463040"/>
            <a:ext cx="2560320" cy="1463040"/>
          </a:xfrm>
          <a:prstGeom prst="roundRect">
            <a:avLst>
              <a:gd name="adj" fmla="val 5000"/>
            </a:avLst>
          </a:prstGeom>
          <a:solidFill>
            <a:srgbClr val="FFFFFF"/>
          </a:solidFill>
          <a:ln w="12700">
            <a:solidFill>
              <a:srgbClr val="F2F2F2"/>
            </a:solid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463040"/>
            <a:ext cx="2560320" cy="3657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3640" y="1609344"/>
            <a:ext cx="365760" cy="36576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3</a:t>
            </a:r>
          </a:p>
        </p:txBody>
      </p:sp>
      <p:sp>
        <p:nvSpPr>
          <p:cNvPr id="17" name="TextBox 16"/>
          <p:cNvSpPr txBox="1"/>
          <p:nvPr/>
        </p:nvSpPr>
        <p:spPr>
          <a:xfrm>
            <a:off x="6720840" y="1580083"/>
            <a:ext cx="1783080" cy="321868"/>
          </a:xfrm>
          <a:prstGeom prst="rect">
            <a:avLst/>
          </a:prstGeom>
          <a:noFill/>
        </p:spPr>
        <p:txBody>
          <a:bodyPr wrap="square">
            <a:normAutofit/>
          </a:bodyPr>
          <a:lstStyle/>
          <a:p>
            <a:pPr algn="l"/>
            <a:r>
              <a:rPr sz="1400" b="1" i="0">
                <a:solidFill>
                  <a:srgbClr val="243A5E"/>
                </a:solidFill>
                <a:latin typeface="Segoe UI Semibold"/>
              </a:rPr>
              <a:t>Post Cards</a:t>
            </a:r>
          </a:p>
        </p:txBody>
      </p:sp>
      <p:sp>
        <p:nvSpPr>
          <p:cNvPr id="18" name="TextBox 17"/>
          <p:cNvSpPr txBox="1"/>
          <p:nvPr/>
        </p:nvSpPr>
        <p:spPr>
          <a:xfrm>
            <a:off x="6263640" y="2018995"/>
            <a:ext cx="2286000" cy="804672"/>
          </a:xfrm>
          <a:prstGeom prst="rect">
            <a:avLst/>
          </a:prstGeom>
          <a:noFill/>
        </p:spPr>
        <p:txBody>
          <a:bodyPr wrap="square">
            <a:normAutofit/>
          </a:bodyPr>
          <a:lstStyle/>
          <a:p>
            <a:pPr algn="l"/>
            <a:r>
              <a:rPr sz="1200" b="0" i="0">
                <a:solidFill>
                  <a:srgbClr val="616161"/>
                </a:solidFill>
                <a:latin typeface="Segoe UI"/>
              </a:rPr>
              <a:t>Individual tweets with </a:t>
            </a:r>
            <a:r>
              <a:rPr sz="1200" b="1" i="0">
                <a:solidFill>
                  <a:srgbClr val="616161"/>
                </a:solidFill>
                <a:latin typeface="Segoe UI Semibold"/>
              </a:rPr>
              <a:t>sentiment badges</a:t>
            </a:r>
            <a:r>
              <a:rPr sz="1200" b="0" i="0">
                <a:solidFill>
                  <a:srgbClr val="616161"/>
                </a:solidFill>
                <a:latin typeface="Segoe UI"/>
              </a:rPr>
              <a:t> and confidence score bars for transparency</a:t>
            </a:r>
          </a:p>
        </p:txBody>
      </p:sp>
      <p:graphicFrame>
        <p:nvGraphicFramePr>
          <p:cNvPr id="19" name="Chart 18"/>
          <p:cNvGraphicFramePr>
            <a:graphicFrameLocks noGrp="1"/>
          </p:cNvGraphicFramePr>
          <p:nvPr/>
        </p:nvGraphicFramePr>
        <p:xfrm>
          <a:off x="2926080" y="3291840"/>
          <a:ext cx="3291840" cy="2926080"/>
        </p:xfrm>
        <a:graphic>
          <a:graphicData uri="http://schemas.openxmlformats.org/drawingml/2006/chart">
            <c:chart xmlns:c="http://schemas.openxmlformats.org/drawingml/2006/chart" r:id="rId4"/>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82880"/>
            <a:ext cx="10058400" cy="553720"/>
          </a:xfrm>
          <a:prstGeom prst="rect">
            <a:avLst/>
          </a:prstGeom>
          <a:noFill/>
        </p:spPr>
        <p:txBody>
          <a:bodyPr wrap="square">
            <a:normAutofit/>
          </a:bodyPr>
          <a:lstStyle/>
          <a:p>
            <a:pPr algn="l"/>
            <a:r>
              <a:rPr sz="2800" b="1" i="0">
                <a:solidFill>
                  <a:srgbClr val="0078D4"/>
                </a:solidFill>
                <a:latin typeface="Segoe UI Semibold"/>
              </a:rPr>
              <a:t>Cost and Performance Profile</a:t>
            </a:r>
          </a:p>
        </p:txBody>
      </p:sp>
      <p:pic>
        <p:nvPicPr>
          <p:cNvPr id="3" name="Picture 2" descr="microsoft.png"/>
          <p:cNvPicPr>
            <a:picLocks noChangeAspect="1"/>
          </p:cNvPicPr>
          <p:nvPr/>
        </p:nvPicPr>
        <p:blipFill>
          <a:blip r:embed="rId2"/>
          <a:stretch>
            <a:fillRect/>
          </a:stretch>
        </p:blipFill>
        <p:spPr>
          <a:xfrm>
            <a:off x="10454335" y="6263640"/>
            <a:ext cx="1280160" cy="273368"/>
          </a:xfrm>
          <a:prstGeom prst="rect">
            <a:avLst/>
          </a:prstGeom>
        </p:spPr>
      </p:pic>
      <p:sp>
        <p:nvSpPr>
          <p:cNvPr id="4" name="Rounded Rectangle 3"/>
          <p:cNvSpPr/>
          <p:nvPr/>
        </p:nvSpPr>
        <p:spPr>
          <a:xfrm>
            <a:off x="457200" y="1645920"/>
            <a:ext cx="1885950" cy="1645920"/>
          </a:xfrm>
          <a:prstGeom prst="roundRect">
            <a:avLst>
              <a:gd name="adj" fmla="val 5000"/>
            </a:avLst>
          </a:prstGeom>
          <a:solidFill>
            <a:srgbClr val="FFFFFF"/>
          </a:solidFill>
          <a:ln w="12700">
            <a:solidFill>
              <a:srgbClr val="F2F2F2"/>
            </a:solidFill>
          </a:ln>
          <a:effectLst>
            <a:outerShdw blurRad="508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8755" bIns="131673">
            <a:normAutofit/>
          </a:bodyPr>
          <a:lstStyle/>
          <a:p>
            <a:pPr algn="ctr"/>
            <a:r>
              <a:rPr sz="3600" b="1" i="0">
                <a:solidFill>
                  <a:srgbClr val="0078D4"/>
                </a:solidFill>
                <a:latin typeface="Segoe UI Semibold"/>
              </a:rPr>
              <a:t>~$0</a:t>
            </a:r>
          </a:p>
          <a:p>
            <a:pPr algn="ctr">
              <a:spcBef>
                <a:spcPts val="400"/>
              </a:spcBef>
            </a:pPr>
            <a:r>
              <a:rPr sz="1200" b="0" i="0">
                <a:solidFill>
                  <a:srgbClr val="243A5E"/>
                </a:solidFill>
                <a:latin typeface="Segoe UI"/>
              </a:rPr>
              <a:t>AI Language
(Free Tier)</a:t>
            </a:r>
          </a:p>
        </p:txBody>
      </p:sp>
      <p:sp>
        <p:nvSpPr>
          <p:cNvPr id="5" name="Rectangle 4"/>
          <p:cNvSpPr/>
          <p:nvPr/>
        </p:nvSpPr>
        <p:spPr>
          <a:xfrm>
            <a:off x="457200" y="1645920"/>
            <a:ext cx="1885950"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71750" y="1645920"/>
            <a:ext cx="1885950" cy="1645920"/>
          </a:xfrm>
          <a:prstGeom prst="roundRect">
            <a:avLst>
              <a:gd name="adj" fmla="val 5000"/>
            </a:avLst>
          </a:prstGeom>
          <a:solidFill>
            <a:srgbClr val="FFFFFF"/>
          </a:solidFill>
          <a:ln w="12700">
            <a:solidFill>
              <a:srgbClr val="F2F2F2"/>
            </a:solidFill>
          </a:ln>
          <a:effectLst>
            <a:outerShdw blurRad="508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8755" bIns="131673">
            <a:normAutofit/>
          </a:bodyPr>
          <a:lstStyle/>
          <a:p>
            <a:pPr algn="ctr"/>
            <a:r>
              <a:rPr sz="3600" b="1" i="0">
                <a:solidFill>
                  <a:srgbClr val="243A5E"/>
                </a:solidFill>
                <a:latin typeface="Segoe UI Semibold"/>
              </a:rPr>
              <a:t>~$13/mo</a:t>
            </a:r>
          </a:p>
          <a:p>
            <a:pPr algn="ctr">
              <a:spcBef>
                <a:spcPts val="400"/>
              </a:spcBef>
            </a:pPr>
            <a:r>
              <a:rPr sz="1200" b="0" i="0">
                <a:solidFill>
                  <a:srgbClr val="243A5E"/>
                </a:solidFill>
                <a:latin typeface="Segoe UI"/>
              </a:rPr>
              <a:t>App Service
(B1 Dev)</a:t>
            </a:r>
          </a:p>
        </p:txBody>
      </p:sp>
      <p:sp>
        <p:nvSpPr>
          <p:cNvPr id="7" name="Rectangle 6"/>
          <p:cNvSpPr/>
          <p:nvPr/>
        </p:nvSpPr>
        <p:spPr>
          <a:xfrm>
            <a:off x="2571750" y="1645920"/>
            <a:ext cx="1885950" cy="45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86300" y="1645920"/>
            <a:ext cx="1885950" cy="1645920"/>
          </a:xfrm>
          <a:prstGeom prst="roundRect">
            <a:avLst>
              <a:gd name="adj" fmla="val 5000"/>
            </a:avLst>
          </a:prstGeom>
          <a:solidFill>
            <a:srgbClr val="FFFFFF"/>
          </a:solidFill>
          <a:ln w="12700">
            <a:solidFill>
              <a:srgbClr val="F2F2F2"/>
            </a:solidFill>
          </a:ln>
          <a:effectLst>
            <a:outerShdw blurRad="508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8755" bIns="131673">
            <a:normAutofit/>
          </a:bodyPr>
          <a:lstStyle/>
          <a:p>
            <a:pPr algn="ctr"/>
            <a:r>
              <a:rPr sz="3600" b="1" i="0">
                <a:solidFill>
                  <a:srgbClr val="006CBE"/>
                </a:solidFill>
                <a:latin typeface="Segoe UI Semibold"/>
              </a:rPr>
              <a:t>&lt;3s</a:t>
            </a:r>
          </a:p>
          <a:p>
            <a:pPr algn="ctr">
              <a:spcBef>
                <a:spcPts val="400"/>
              </a:spcBef>
            </a:pPr>
            <a:r>
              <a:rPr sz="1200" b="0" i="0">
                <a:solidFill>
                  <a:srgbClr val="243A5E"/>
                </a:solidFill>
                <a:latin typeface="Segoe UI"/>
              </a:rPr>
              <a:t>Analysis
Latency</a:t>
            </a:r>
          </a:p>
        </p:txBody>
      </p:sp>
      <p:sp>
        <p:nvSpPr>
          <p:cNvPr id="9" name="Rectangle 8"/>
          <p:cNvSpPr/>
          <p:nvPr/>
        </p:nvSpPr>
        <p:spPr>
          <a:xfrm>
            <a:off x="4686300" y="1645920"/>
            <a:ext cx="1885950" cy="45720"/>
          </a:xfrm>
          <a:prstGeom prst="rect">
            <a:avLst/>
          </a:prstGeom>
          <a:solidFill>
            <a:srgbClr val="006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00850" y="1645920"/>
            <a:ext cx="1885950" cy="1645920"/>
          </a:xfrm>
          <a:prstGeom prst="roundRect">
            <a:avLst>
              <a:gd name="adj" fmla="val 5000"/>
            </a:avLst>
          </a:prstGeom>
          <a:solidFill>
            <a:srgbClr val="FFFFFF"/>
          </a:solidFill>
          <a:ln w="12700">
            <a:solidFill>
              <a:srgbClr val="F2F2F2"/>
            </a:solidFill>
          </a:ln>
          <a:effectLst>
            <a:outerShdw blurRad="508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8755" bIns="131673">
            <a:normAutofit/>
          </a:bodyPr>
          <a:lstStyle/>
          <a:p>
            <a:pPr algn="ctr"/>
            <a:r>
              <a:rPr sz="3600" b="1" i="0">
                <a:solidFill>
                  <a:srgbClr val="2E4A6E"/>
                </a:solidFill>
                <a:latin typeface="Segoe UI Semibold"/>
              </a:rPr>
              <a:t>5,000</a:t>
            </a:r>
          </a:p>
          <a:p>
            <a:pPr algn="ctr">
              <a:spcBef>
                <a:spcPts val="400"/>
              </a:spcBef>
            </a:pPr>
            <a:r>
              <a:rPr sz="1200" b="0" i="0">
                <a:solidFill>
                  <a:srgbClr val="243A5E"/>
                </a:solidFill>
                <a:latin typeface="Segoe UI"/>
              </a:rPr>
              <a:t>Free Records
per Month</a:t>
            </a:r>
          </a:p>
        </p:txBody>
      </p:sp>
      <p:sp>
        <p:nvSpPr>
          <p:cNvPr id="11" name="Rectangle 10"/>
          <p:cNvSpPr/>
          <p:nvPr/>
        </p:nvSpPr>
        <p:spPr>
          <a:xfrm>
            <a:off x="6800850" y="1645920"/>
            <a:ext cx="1885950" cy="45720"/>
          </a:xfrm>
          <a:prstGeom prst="rect">
            <a:avLst/>
          </a:prstGeom>
          <a:solidFill>
            <a:srgbClr val="2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5" name="Group"/>
          <p:cNvGrpSpPr/>
          <p:nvPr/>
        </p:nvGrpSpPr>
        <p:grpSpPr>
          <a:xfrm>
            <a:off x="731520" y="3840480"/>
            <a:ext cx="7680960" cy="1097280"/>
            <a:chOff x="731520" y="3840480"/>
            <a:chExt cx="7680960" cy="1097280"/>
          </a:xfrm>
        </p:grpSpPr>
        <p:sp>
          <p:nvSpPr>
            <p:cNvPr id="12" name="Rounded Rectangle 11"/>
            <p:cNvSpPr/>
            <p:nvPr/>
          </p:nvSpPr>
          <p:spPr>
            <a:xfrm>
              <a:off x="731520" y="3840480"/>
              <a:ext cx="7680960" cy="1097280"/>
            </a:xfrm>
            <a:prstGeom prst="roundRect">
              <a:avLst>
                <a:gd name="adj" fmla="val 4000"/>
              </a:avLst>
            </a:prstGeom>
            <a:solidFill>
              <a:srgbClr val="EFF6FC"/>
            </a:solidFill>
            <a:ln>
              <a:noFill/>
            </a:ln>
            <a:effectLst>
              <a:outerShdw blurRad="25400" dist="12700" dir="54000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73152" bIns="73152">
              <a:normAutofit/>
            </a:bodyPr>
            <a:lstStyle/>
            <a:p>
              <a:pPr algn="l"/>
              <a:r>
                <a:rPr sz="1300" b="1" i="0">
                  <a:solidFill>
                    <a:srgbClr val="243A5E"/>
                  </a:solidFill>
                  <a:latin typeface="Segoe UI Semibold"/>
                </a:rPr>
                <a:t>With caching enabled, typical usage stays well within the free tier.</a:t>
              </a:r>
            </a:p>
            <a:p>
              <a:pPr algn="l"/>
              <a:r>
                <a:rPr sz="1300" b="1" i="0">
                  <a:solidFill>
                    <a:srgbClr val="243A5E"/>
                  </a:solidFill>
                  <a:latin typeface="Segoe UI Semibold"/>
                </a:rPr>
                <a:t>Scale to Standard tier ($1/1,000 records) when volume increases.</a:t>
              </a:r>
            </a:p>
          </p:txBody>
        </p:sp>
        <p:sp>
          <p:nvSpPr>
            <p:cNvPr id="13" name="Rectangle 12"/>
            <p:cNvSpPr/>
            <p:nvPr/>
          </p:nvSpPr>
          <p:spPr>
            <a:xfrm>
              <a:off x="731520" y="3840480"/>
              <a:ext cx="63500"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389120"/>
            <a:ext cx="3200400" cy="32004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3657600" cy="586740"/>
          </a:xfrm>
          <a:prstGeom prst="rect">
            <a:avLst/>
          </a:prstGeom>
          <a:noFill/>
        </p:spPr>
        <p:txBody>
          <a:bodyPr wrap="square">
            <a:spAutoFit/>
          </a:bodyPr>
          <a:lstStyle/>
          <a:p>
            <a:pPr algn="l"/>
            <a:r>
              <a:rPr sz="3000" b="1" i="0">
                <a:solidFill>
                  <a:srgbClr val="FFFFFF"/>
                </a:solidFill>
                <a:latin typeface="Segoe UI Semibold"/>
              </a:rPr>
              <a:t>Key Takeaways</a:t>
            </a:r>
          </a:p>
        </p:txBody>
      </p:sp>
      <p:sp>
        <p:nvSpPr>
          <p:cNvPr id="5" name="Rectangle 4"/>
          <p:cNvSpPr/>
          <p:nvPr/>
        </p:nvSpPr>
        <p:spPr>
          <a:xfrm>
            <a:off x="548640" y="1181100"/>
            <a:ext cx="201168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507883"/>
            <a:ext cx="365760" cy="36576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1</a:t>
            </a:r>
          </a:p>
        </p:txBody>
      </p:sp>
      <p:sp>
        <p:nvSpPr>
          <p:cNvPr id="7" name="TextBox 6"/>
          <p:cNvSpPr txBox="1"/>
          <p:nvPr/>
        </p:nvSpPr>
        <p:spPr>
          <a:xfrm>
            <a:off x="1097280" y="1409700"/>
            <a:ext cx="3200400" cy="654558"/>
          </a:xfrm>
          <a:prstGeom prst="rect">
            <a:avLst/>
          </a:prstGeom>
          <a:noFill/>
        </p:spPr>
        <p:txBody>
          <a:bodyPr wrap="square">
            <a:normAutofit/>
          </a:bodyPr>
          <a:lstStyle/>
          <a:p>
            <a:pPr algn="l"/>
            <a:r>
              <a:rPr sz="1100" b="0" i="0">
                <a:solidFill>
                  <a:srgbClr val="DDEEFF"/>
                </a:solidFill>
                <a:latin typeface="Segoe UI"/>
              </a:rPr>
              <a:t>Azure AI Language provides production-ready sentiment analysis with per-document confidence scoring</a:t>
            </a:r>
          </a:p>
        </p:txBody>
      </p:sp>
      <p:sp>
        <p:nvSpPr>
          <p:cNvPr id="8" name="Oval 7"/>
          <p:cNvSpPr/>
          <p:nvPr/>
        </p:nvSpPr>
        <p:spPr>
          <a:xfrm>
            <a:off x="548640" y="2162441"/>
            <a:ext cx="365760" cy="36576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2</a:t>
            </a:r>
          </a:p>
        </p:txBody>
      </p:sp>
      <p:sp>
        <p:nvSpPr>
          <p:cNvPr id="9" name="TextBox 8"/>
          <p:cNvSpPr txBox="1"/>
          <p:nvPr/>
        </p:nvSpPr>
        <p:spPr>
          <a:xfrm>
            <a:off x="1097280" y="2064258"/>
            <a:ext cx="3200400" cy="654558"/>
          </a:xfrm>
          <a:prstGeom prst="rect">
            <a:avLst/>
          </a:prstGeom>
          <a:noFill/>
        </p:spPr>
        <p:txBody>
          <a:bodyPr wrap="square">
            <a:normAutofit/>
          </a:bodyPr>
          <a:lstStyle/>
          <a:p>
            <a:pPr algn="l"/>
            <a:r>
              <a:rPr sz="1100" b="0" i="0">
                <a:solidFill>
                  <a:srgbClr val="DDEEFF"/>
                </a:solidFill>
                <a:latin typeface="Segoe UI"/>
              </a:rPr>
              <a:t>Managed identity and Key Vault eliminate credential management entirely</a:t>
            </a:r>
          </a:p>
        </p:txBody>
      </p:sp>
      <p:sp>
        <p:nvSpPr>
          <p:cNvPr id="10" name="Oval 9"/>
          <p:cNvSpPr/>
          <p:nvPr/>
        </p:nvSpPr>
        <p:spPr>
          <a:xfrm>
            <a:off x="548640" y="2816999"/>
            <a:ext cx="365760" cy="36576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3</a:t>
            </a:r>
          </a:p>
        </p:txBody>
      </p:sp>
      <p:sp>
        <p:nvSpPr>
          <p:cNvPr id="11" name="TextBox 10"/>
          <p:cNvSpPr txBox="1"/>
          <p:nvPr/>
        </p:nvSpPr>
        <p:spPr>
          <a:xfrm>
            <a:off x="1097280" y="2718816"/>
            <a:ext cx="3200400" cy="654558"/>
          </a:xfrm>
          <a:prstGeom prst="rect">
            <a:avLst/>
          </a:prstGeom>
          <a:noFill/>
        </p:spPr>
        <p:txBody>
          <a:bodyPr wrap="square">
            <a:normAutofit/>
          </a:bodyPr>
          <a:lstStyle/>
          <a:p>
            <a:pPr algn="l"/>
            <a:r>
              <a:rPr sz="1100" b="0" i="0">
                <a:solidFill>
                  <a:srgbClr val="DDEEFF"/>
                </a:solidFill>
                <a:latin typeface="Segoe UI"/>
              </a:rPr>
              <a:t>Modular Bicep infrastructure deploys securely across dev, staging, and production</a:t>
            </a:r>
          </a:p>
        </p:txBody>
      </p:sp>
      <p:sp>
        <p:nvSpPr>
          <p:cNvPr id="12" name="Oval 11"/>
          <p:cNvSpPr/>
          <p:nvPr/>
        </p:nvSpPr>
        <p:spPr>
          <a:xfrm>
            <a:off x="548640" y="3444316"/>
            <a:ext cx="365760" cy="36576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rmAutofit/>
          </a:bodyPr>
          <a:lstStyle/>
          <a:p>
            <a:pPr algn="ctr"/>
            <a:r>
              <a:rPr sz="1100" b="1" i="0">
                <a:solidFill>
                  <a:srgbClr val="FFFFFF"/>
                </a:solidFill>
                <a:latin typeface="Segoe UI Semibold"/>
              </a:rPr>
              <a:t>4</a:t>
            </a:r>
          </a:p>
        </p:txBody>
      </p:sp>
      <p:sp>
        <p:nvSpPr>
          <p:cNvPr id="13" name="TextBox 12"/>
          <p:cNvSpPr txBox="1"/>
          <p:nvPr/>
        </p:nvSpPr>
        <p:spPr>
          <a:xfrm>
            <a:off x="1097280" y="3373374"/>
            <a:ext cx="3200400" cy="472948"/>
          </a:xfrm>
          <a:prstGeom prst="rect">
            <a:avLst/>
          </a:prstGeom>
          <a:noFill/>
        </p:spPr>
        <p:txBody>
          <a:bodyPr wrap="square">
            <a:normAutofit/>
          </a:bodyPr>
          <a:lstStyle/>
          <a:p>
            <a:pPr algn="l"/>
            <a:r>
              <a:rPr sz="1100" b="0" i="0">
                <a:solidFill>
                  <a:srgbClr val="DDEEFF"/>
                </a:solidFill>
                <a:latin typeface="Segoe UI"/>
              </a:rPr>
              <a:t>Smart batching reduces API calls by 10x while caching controls costs</a:t>
            </a:r>
          </a:p>
        </p:txBody>
      </p:sp>
      <p:pic>
        <p:nvPicPr>
          <p:cNvPr id="14" name="Picture 13" descr="microsoft.png"/>
          <p:cNvPicPr>
            <a:picLocks noChangeAspect="1"/>
          </p:cNvPicPr>
          <p:nvPr/>
        </p:nvPicPr>
        <p:blipFill>
          <a:blip r:embed="rId2"/>
          <a:stretch>
            <a:fillRect/>
          </a:stretch>
        </p:blipFill>
        <p:spPr>
          <a:xfrm>
            <a:off x="10454335" y="6263640"/>
            <a:ext cx="1280160" cy="273368"/>
          </a:xfrm>
          <a:prstGeom prst="rect">
            <a:avLst/>
          </a:prstGeom>
        </p:spPr>
      </p:pic>
      <p:sp>
        <p:nvSpPr>
          <p:cNvPr id="15" name="TextBox 14"/>
          <p:cNvSpPr txBox="1"/>
          <p:nvPr/>
        </p:nvSpPr>
        <p:spPr>
          <a:xfrm>
            <a:off x="5303520" y="1097280"/>
            <a:ext cx="6430975" cy="1097280"/>
          </a:xfrm>
          <a:prstGeom prst="rect">
            <a:avLst/>
          </a:prstGeom>
          <a:noFill/>
        </p:spPr>
        <p:txBody>
          <a:bodyPr wrap="square">
            <a:normAutofit/>
          </a:bodyPr>
          <a:lstStyle/>
          <a:p>
            <a:pPr algn="l"/>
            <a:r>
              <a:rPr sz="3200" b="1" i="0">
                <a:solidFill>
                  <a:srgbClr val="243A5E"/>
                </a:solidFill>
                <a:latin typeface="Segoe UI Semibold"/>
              </a:rPr>
              <a:t>Resources</a:t>
            </a:r>
          </a:p>
        </p:txBody>
      </p:sp>
      <p:sp>
        <p:nvSpPr>
          <p:cNvPr id="16" name="TextBox 15"/>
          <p:cNvSpPr txBox="1"/>
          <p:nvPr/>
        </p:nvSpPr>
        <p:spPr>
          <a:xfrm>
            <a:off x="5303520" y="2286000"/>
            <a:ext cx="6430975" cy="320040"/>
          </a:xfrm>
          <a:prstGeom prst="rect">
            <a:avLst/>
          </a:prstGeom>
          <a:noFill/>
        </p:spPr>
        <p:txBody>
          <a:bodyPr wrap="square">
            <a:normAutofit/>
          </a:bodyPr>
          <a:lstStyle/>
          <a:p>
            <a:pPr algn="l"/>
            <a:r>
              <a:rPr sz="1400" b="0" i="0">
                <a:solidFill>
                  <a:srgbClr val="0078D4"/>
                </a:solidFill>
                <a:latin typeface="Segoe UI"/>
              </a:rPr>
              <a:t>https://learn.microsoft.com/azure/ai-services/language-service/</a:t>
            </a:r>
          </a:p>
        </p:txBody>
      </p:sp>
      <p:sp>
        <p:nvSpPr>
          <p:cNvPr id="17" name="Rounded Rectangle 16"/>
          <p:cNvSpPr/>
          <p:nvPr/>
        </p:nvSpPr>
        <p:spPr>
          <a:xfrm>
            <a:off x="5303520" y="2834640"/>
            <a:ext cx="2052218" cy="1554480"/>
          </a:xfrm>
          <a:prstGeom prst="roundRect">
            <a:avLst>
              <a:gd name="adj" fmla="val 5000"/>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76672" y="2926080"/>
            <a:ext cx="1905914" cy="731520"/>
          </a:xfrm>
          <a:prstGeom prst="rect">
            <a:avLst/>
          </a:prstGeom>
          <a:noFill/>
        </p:spPr>
        <p:txBody>
          <a:bodyPr wrap="square">
            <a:normAutofit/>
          </a:bodyPr>
          <a:lstStyle/>
          <a:p>
            <a:pPr algn="ctr"/>
            <a:r>
              <a:rPr sz="1800" b="1" i="0">
                <a:solidFill>
                  <a:srgbClr val="0078D4"/>
                </a:solidFill>
                <a:latin typeface="Segoe UI Semibold"/>
              </a:rPr>
              <a:t>Azure AI Language Docs</a:t>
            </a:r>
          </a:p>
        </p:txBody>
      </p:sp>
      <p:sp>
        <p:nvSpPr>
          <p:cNvPr id="19" name="TextBox 18"/>
          <p:cNvSpPr txBox="1"/>
          <p:nvPr/>
        </p:nvSpPr>
        <p:spPr>
          <a:xfrm>
            <a:off x="5376672" y="3703320"/>
            <a:ext cx="1905914" cy="502920"/>
          </a:xfrm>
          <a:prstGeom prst="rect">
            <a:avLst/>
          </a:prstGeom>
          <a:noFill/>
        </p:spPr>
        <p:txBody>
          <a:bodyPr wrap="square">
            <a:normAutofit/>
          </a:bodyPr>
          <a:lstStyle/>
          <a:p>
            <a:pPr algn="ctr"/>
            <a:r>
              <a:rPr sz="1100" b="0" i="0">
                <a:solidFill>
                  <a:srgbClr val="616161"/>
                </a:solidFill>
                <a:latin typeface="Segoe UI"/>
              </a:rPr>
              <a:t>learn.microsoft.com/azure/ai-services/language-service/</a:t>
            </a:r>
          </a:p>
        </p:txBody>
      </p:sp>
      <p:sp>
        <p:nvSpPr>
          <p:cNvPr id="20" name="Rounded Rectangle 19"/>
          <p:cNvSpPr/>
          <p:nvPr/>
        </p:nvSpPr>
        <p:spPr>
          <a:xfrm>
            <a:off x="7492898" y="2834640"/>
            <a:ext cx="2052218" cy="1554480"/>
          </a:xfrm>
          <a:prstGeom prst="roundRect">
            <a:avLst>
              <a:gd name="adj" fmla="val 5000"/>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66050" y="2926080"/>
            <a:ext cx="1905914" cy="731520"/>
          </a:xfrm>
          <a:prstGeom prst="rect">
            <a:avLst/>
          </a:prstGeom>
          <a:noFill/>
        </p:spPr>
        <p:txBody>
          <a:bodyPr wrap="square">
            <a:normAutofit/>
          </a:bodyPr>
          <a:lstStyle/>
          <a:p>
            <a:pPr algn="ctr"/>
            <a:r>
              <a:rPr sz="1800" b="1" i="0">
                <a:solidFill>
                  <a:srgbClr val="0078D4"/>
                </a:solidFill>
                <a:latin typeface="Segoe UI Semibold"/>
              </a:rPr>
              <a:t>App Service Docs</a:t>
            </a:r>
          </a:p>
        </p:txBody>
      </p:sp>
      <p:sp>
        <p:nvSpPr>
          <p:cNvPr id="22" name="TextBox 21"/>
          <p:cNvSpPr txBox="1"/>
          <p:nvPr/>
        </p:nvSpPr>
        <p:spPr>
          <a:xfrm>
            <a:off x="7566050" y="3703320"/>
            <a:ext cx="1905914" cy="502920"/>
          </a:xfrm>
          <a:prstGeom prst="rect">
            <a:avLst/>
          </a:prstGeom>
          <a:noFill/>
        </p:spPr>
        <p:txBody>
          <a:bodyPr wrap="square">
            <a:normAutofit/>
          </a:bodyPr>
          <a:lstStyle/>
          <a:p>
            <a:pPr algn="ctr"/>
            <a:r>
              <a:rPr sz="1100" b="0" i="0">
                <a:solidFill>
                  <a:srgbClr val="616161"/>
                </a:solidFill>
                <a:latin typeface="Segoe UI"/>
              </a:rPr>
              <a:t>learn.microsoft.com/azure/app-service/</a:t>
            </a:r>
          </a:p>
        </p:txBody>
      </p:sp>
      <p:sp>
        <p:nvSpPr>
          <p:cNvPr id="23" name="Rounded Rectangle 22"/>
          <p:cNvSpPr/>
          <p:nvPr/>
        </p:nvSpPr>
        <p:spPr>
          <a:xfrm>
            <a:off x="9682276" y="2834640"/>
            <a:ext cx="2052218" cy="1554480"/>
          </a:xfrm>
          <a:prstGeom prst="roundRect">
            <a:avLst>
              <a:gd name="adj" fmla="val 5000"/>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55428" y="2926080"/>
            <a:ext cx="1905914" cy="731520"/>
          </a:xfrm>
          <a:prstGeom prst="rect">
            <a:avLst/>
          </a:prstGeom>
          <a:noFill/>
        </p:spPr>
        <p:txBody>
          <a:bodyPr wrap="square">
            <a:normAutofit/>
          </a:bodyPr>
          <a:lstStyle/>
          <a:p>
            <a:pPr algn="ctr"/>
            <a:r>
              <a:rPr sz="1800" b="1" i="0">
                <a:solidFill>
                  <a:srgbClr val="0078D4"/>
                </a:solidFill>
                <a:latin typeface="Segoe UI Semibold"/>
              </a:rPr>
              <a:t>Key Vault Best Practices</a:t>
            </a:r>
          </a:p>
        </p:txBody>
      </p:sp>
      <p:sp>
        <p:nvSpPr>
          <p:cNvPr id="25" name="TextBox 24"/>
          <p:cNvSpPr txBox="1"/>
          <p:nvPr/>
        </p:nvSpPr>
        <p:spPr>
          <a:xfrm>
            <a:off x="9755428" y="3703320"/>
            <a:ext cx="1905914" cy="502920"/>
          </a:xfrm>
          <a:prstGeom prst="rect">
            <a:avLst/>
          </a:prstGeom>
          <a:noFill/>
        </p:spPr>
        <p:txBody>
          <a:bodyPr wrap="square">
            <a:normAutofit/>
          </a:bodyPr>
          <a:lstStyle/>
          <a:p>
            <a:pPr algn="ctr"/>
            <a:r>
              <a:rPr sz="1100" b="0" i="0">
                <a:solidFill>
                  <a:srgbClr val="616161"/>
                </a:solidFill>
                <a:latin typeface="Segoe UI"/>
              </a:rPr>
              <a:t>learn.microsoft.com/azure/key-vault/general/best-practices</a:t>
            </a:r>
          </a:p>
        </p:txBody>
      </p:sp>
      <p:sp>
        <p:nvSpPr>
          <p:cNvPr id="26" name="TextBox 25"/>
          <p:cNvSpPr txBox="1"/>
          <p:nvPr/>
        </p:nvSpPr>
        <p:spPr>
          <a:xfrm>
            <a:off x="5303520" y="4663440"/>
            <a:ext cx="6430975" cy="457200"/>
          </a:xfrm>
          <a:prstGeom prst="rect">
            <a:avLst/>
          </a:prstGeom>
          <a:noFill/>
        </p:spPr>
        <p:txBody>
          <a:bodyPr wrap="square">
            <a:spAutoFit/>
          </a:bodyPr>
          <a:lstStyle/>
          <a:p>
            <a:pPr algn="l"/>
            <a:r>
              <a:rPr sz="2600" b="1" i="0">
                <a:solidFill>
                  <a:srgbClr val="243A5E"/>
                </a:solidFill>
                <a:latin typeface="Segoe UI Semi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